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1cc4084b264d86" /><Relationship Type="http://schemas.openxmlformats.org/officeDocument/2006/relationships/extended-properties" Target="/docProps/app.xml" Id="Rd1daeb46754245cb" /><Relationship Type="http://schemas.openxmlformats.org/officeDocument/2006/relationships/officeDocument" Target="/ppt/presentation.xml" Id="Rba17dcabda7b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777ef49d1422c"/>
  </p:sldMasterIdLst>
  <p:notesMasterIdLst>
    <p:notesMasterId xmlns:r="http://schemas.openxmlformats.org/officeDocument/2006/relationships" r:id="R0e6a57fbff83447b"/>
  </p:notesMasterIdLst>
  <p:sldIdLst>
    <p:sldId xmlns:r="http://schemas.openxmlformats.org/officeDocument/2006/relationships" id="256" r:id="R340d8bb28e944c1e"/>
    <p:sldId xmlns:r="http://schemas.openxmlformats.org/officeDocument/2006/relationships" id="257" r:id="R72e812935e8b418d"/>
    <p:sldId xmlns:r="http://schemas.openxmlformats.org/officeDocument/2006/relationships" id="258" r:id="R0932758518a3443f"/>
    <p:sldId xmlns:r="http://schemas.openxmlformats.org/officeDocument/2006/relationships" id="259" r:id="Rada4eb3556814c21"/>
    <p:sldId xmlns:r="http://schemas.openxmlformats.org/officeDocument/2006/relationships" id="260" r:id="R3c75dd5ef4fe44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6ae4980db0479f" /><Relationship Type="http://schemas.openxmlformats.org/officeDocument/2006/relationships/slideMaster" Target="/ppt/slideMasters/slideMaster1.xml" Id="R1c3777ef49d1422c" /><Relationship Type="http://schemas.openxmlformats.org/officeDocument/2006/relationships/notesMaster" Target="/ppt/notesMasters/notesMaster1.xml" Id="R0e6a57fbff83447b" /><Relationship Type="http://schemas.openxmlformats.org/officeDocument/2006/relationships/presProps" Target="/ppt/presProps.xml" Id="R932720fff41b483b" /><Relationship Type="http://schemas.openxmlformats.org/officeDocument/2006/relationships/tableStyles" Target="/ppt/tableStyles.xml" Id="Rb43c876f929247d8" /><Relationship Type="http://schemas.openxmlformats.org/officeDocument/2006/relationships/slide" Target="/ppt/slides/slide1.xml" Id="R340d8bb28e944c1e" /><Relationship Type="http://schemas.openxmlformats.org/officeDocument/2006/relationships/slide" Target="/ppt/slides/slide2.xml" Id="R72e812935e8b418d" /><Relationship Type="http://schemas.openxmlformats.org/officeDocument/2006/relationships/slide" Target="/ppt/slides/slide3.xml" Id="R0932758518a3443f" /><Relationship Type="http://schemas.openxmlformats.org/officeDocument/2006/relationships/slide" Target="/ppt/slides/slide4.xml" Id="Rada4eb3556814c21" /><Relationship Type="http://schemas.openxmlformats.org/officeDocument/2006/relationships/slide" Target="/ppt/slides/slide5.xml" Id="R3c75dd5ef4fe44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c5c1b642be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51c57c20c94781" /><Relationship Type="http://schemas.openxmlformats.org/officeDocument/2006/relationships/notesMaster" Target="/ppt/notesMasters/notesMaster1.xml" Id="R8580dab53910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1418fa9c2a4dee" /><Relationship Type="http://schemas.openxmlformats.org/officeDocument/2006/relationships/notesMaster" Target="/ppt/notesMasters/notesMaster1.xml" Id="Rbaea99ceef9143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b49d59ebc24d20" /><Relationship Type="http://schemas.openxmlformats.org/officeDocument/2006/relationships/notesMaster" Target="/ppt/notesMasters/notesMaster1.xml" Id="Rce3c062c90e24e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32593b810a4afd" /><Relationship Type="http://schemas.openxmlformats.org/officeDocument/2006/relationships/notesMaster" Target="/ppt/notesMasters/notesMaster1.xml" Id="Rf9d3b4ee25da49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5e8018d09d4052" /><Relationship Type="http://schemas.openxmlformats.org/officeDocument/2006/relationships/notesMaster" Target="/ppt/notesMasters/notesMaster1.xml" Id="R41cf0f7184ea4f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1e0d876f143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6342d570c5408d" /><Relationship Type="http://schemas.openxmlformats.org/officeDocument/2006/relationships/slideLayout" Target="/ppt/slideLayouts/slideLayout1.xml" Id="R50e6dbb3e06a45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e6dbb3e06a45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df2f4563242e0" /><Relationship Type="http://schemas.openxmlformats.org/officeDocument/2006/relationships/notesSlide" Target="/ppt/notesSlides/notesSlide1.xml" Id="R2d25d7d7040d43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6452ca1ce4c76" /><Relationship Type="http://schemas.openxmlformats.org/officeDocument/2006/relationships/notesSlide" Target="/ppt/notesSlides/notesSlide2.xml" Id="R262f940366d941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081e77100414b" /><Relationship Type="http://schemas.openxmlformats.org/officeDocument/2006/relationships/image" Target="/ppt/media/image.png" Id="Rfea41a848a104ce5" /><Relationship Type="http://schemas.openxmlformats.org/officeDocument/2006/relationships/notesSlide" Target="/ppt/notesSlides/notesSlide3.xml" Id="R8243c848787146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790a6dbed40c1" /><Relationship Type="http://schemas.openxmlformats.org/officeDocument/2006/relationships/notesSlide" Target="/ppt/notesSlides/notesSlide4.xml" Id="R747d8ad459d34b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81d84411e4bfd" /><Relationship Type="http://schemas.openxmlformats.org/officeDocument/2006/relationships/notesSlide" Target="/ppt/notesSlides/notesSlide5.xml" Id="Rf7bee3d482fb4d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-bg">
            <a:extLst xmlns:a="http://schemas.openxmlformats.org/drawingml/2006/main">
              <a:ext uri="{FF2B5EF4-FFF2-40B4-BE49-F238E27FC236}">
                <a16:creationId xmlns:a16="http://schemas.microsoft.com/office/drawing/2014/main" id="{94917989-A8A6-47A8-80F1-B83508D8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C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B78211A-C138-400E-9AAF-671CC165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LIVE GTM PIPELINE CONTEXT</a:t>
            </a:r>
          </a:p>
        </p:txBody>
      </p:sp>
      <p:sp>
        <p:nvSpPr>
          <p:cNvPr id="3" name="hero-title">
            <a:extLst xmlns:a="http://schemas.openxmlformats.org/drawingml/2006/main">
              <a:ext uri="{FF2B5EF4-FFF2-40B4-BE49-F238E27FC236}">
                <a16:creationId xmlns:a16="http://schemas.microsoft.com/office/drawing/2014/main" id="{C945F775-72EF-4F03-BDC1-037FD0BB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429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Candidate Go-to-Market Pipeline</a:t>
            </a:r>
          </a:p>
        </p:txBody>
      </p:sp>
      <p:sp>
        <p:nvSpPr>
          <p:cNvPr id="4" name="hero-lead">
            <a:extLst xmlns:a="http://schemas.openxmlformats.org/drawingml/2006/main">
              <a:ext uri="{FF2B5EF4-FFF2-40B4-BE49-F238E27FC236}">
                <a16:creationId xmlns:a16="http://schemas.microsoft.com/office/drawing/2014/main" id="{951ABA2C-54F8-4E7F-9543-12D2373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61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A42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A4235"/>
                </a:solidFill>
                <a:latin typeface="Aptos"/>
                <a:ea typeface="Aptos"/>
                <a:cs typeface="Aptos"/>
              </a:rPr>
              <a:t>I use a Candidate Go-to-Market system to turn market signals, role context, and real conversations into clearer fit decisions, role-relevant proof, and context-aware follow-up.</a:t>
            </a:r>
          </a:p>
        </p:txBody>
      </p:sp>
      <p:sp>
        <p:nvSpPr>
          <p:cNvPr id="5" name="hero-learning">
            <a:extLst xmlns:a="http://schemas.openxmlformats.org/drawingml/2006/main">
              <a:ext uri="{FF2B5EF4-FFF2-40B4-BE49-F238E27FC236}">
                <a16:creationId xmlns:a16="http://schemas.microsoft.com/office/drawing/2014/main" id="{A0F47CC6-BB15-4846-BDB5-27C4ED68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Each cycle sharpens the evidence and shows me what to learn next from the market.</a:t>
            </a:r>
          </a:p>
        </p:txBody>
      </p:sp>
      <p:sp>
        <p:nvSpPr>
          <p:cNvPr id="6" name="proof-20K+">
            <a:extLst xmlns:a="http://schemas.openxmlformats.org/drawingml/2006/main">
              <a:ext uri="{FF2B5EF4-FFF2-40B4-BE49-F238E27FC236}">
                <a16:creationId xmlns:a16="http://schemas.microsoft.com/office/drawing/2014/main" id="{D23B3A48-AF3E-4F5B-8E82-2F0B2BB5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657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BE5DA"/>
            </a:solidFill>
            <a:prstDash val="solid"/>
          </a:ln>
        </p:spPr>
      </p:sp>
      <p:sp>
        <p:nvSpPr>
          <p:cNvPr id="7" name="proof-20K+-value">
            <a:extLst xmlns:a="http://schemas.openxmlformats.org/drawingml/2006/main">
              <a:ext uri="{FF2B5EF4-FFF2-40B4-BE49-F238E27FC236}">
                <a16:creationId xmlns:a16="http://schemas.microsoft.com/office/drawing/2014/main" id="{8E1B61DD-E987-42B4-85C1-867BE1DB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20K+</a:t>
            </a:r>
          </a:p>
        </p:txBody>
      </p:sp>
      <p:sp>
        <p:nvSpPr>
          <p:cNvPr id="8" name="proof-20K+-label">
            <a:extLst xmlns:a="http://schemas.openxmlformats.org/drawingml/2006/main">
              <a:ext uri="{FF2B5EF4-FFF2-40B4-BE49-F238E27FC236}">
                <a16:creationId xmlns:a16="http://schemas.microsoft.com/office/drawing/2014/main" id="{81CE2B40-8DD5-4402-9D1B-BE906EC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job-market signals screened with review rules</a:t>
            </a:r>
          </a:p>
        </p:txBody>
      </p:sp>
      <p:sp>
        <p:nvSpPr>
          <p:cNvPr id="9" name="proof-6">
            <a:extLst xmlns:a="http://schemas.openxmlformats.org/drawingml/2006/main">
              <a:ext uri="{FF2B5EF4-FFF2-40B4-BE49-F238E27FC236}">
                <a16:creationId xmlns:a16="http://schemas.microsoft.com/office/drawing/2014/main" id="{902E18A0-170B-4CF0-B0C8-066DC766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76750"/>
            <a:ext cx="1657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BE5DA"/>
            </a:solidFill>
            <a:prstDash val="solid"/>
          </a:ln>
        </p:spPr>
      </p:sp>
      <p:sp>
        <p:nvSpPr>
          <p:cNvPr id="10" name="proof-6-value">
            <a:extLst xmlns:a="http://schemas.openxmlformats.org/drawingml/2006/main">
              <a:ext uri="{FF2B5EF4-FFF2-40B4-BE49-F238E27FC236}">
                <a16:creationId xmlns:a16="http://schemas.microsoft.com/office/drawing/2014/main" id="{E86FBDE3-A8DA-49AE-8133-86E706F6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1" name="proof-6-label">
            <a:extLst xmlns:a="http://schemas.openxmlformats.org/drawingml/2006/main">
              <a:ext uri="{FF2B5EF4-FFF2-40B4-BE49-F238E27FC236}">
                <a16:creationId xmlns:a16="http://schemas.microsoft.com/office/drawing/2014/main" id="{5B611283-601E-428B-9983-5AF7AE5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72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repeatable gates from signal to proof and follow-up</a:t>
            </a:r>
          </a:p>
        </p:txBody>
      </p:sp>
      <p:sp>
        <p:nvSpPr>
          <p:cNvPr id="12" name="proof-1">
            <a:extLst xmlns:a="http://schemas.openxmlformats.org/drawingml/2006/main">
              <a:ext uri="{FF2B5EF4-FFF2-40B4-BE49-F238E27FC236}">
                <a16:creationId xmlns:a16="http://schemas.microsoft.com/office/drawing/2014/main" id="{1E963D99-3317-4DD9-B58E-2975DD88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76750"/>
            <a:ext cx="1657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BE5DA"/>
            </a:solidFill>
            <a:prstDash val="solid"/>
          </a:ln>
        </p:spPr>
      </p:sp>
      <p:sp>
        <p:nvSpPr>
          <p:cNvPr id="13" name="proof-1-value">
            <a:extLst xmlns:a="http://schemas.openxmlformats.org/drawingml/2006/main">
              <a:ext uri="{FF2B5EF4-FFF2-40B4-BE49-F238E27FC236}">
                <a16:creationId xmlns:a16="http://schemas.microsoft.com/office/drawing/2014/main" id="{6DBA01ED-6732-4BE5-A96B-205965C5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29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proof-1-label">
            <a:extLst xmlns:a="http://schemas.openxmlformats.org/drawingml/2006/main">
              <a:ext uri="{FF2B5EF4-FFF2-40B4-BE49-F238E27FC236}">
                <a16:creationId xmlns:a16="http://schemas.microsoft.com/office/drawing/2014/main" id="{10EAA269-D0DE-4E66-9F54-735531BE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72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loop connecting market feedback, proof, and learning</a:t>
            </a:r>
          </a:p>
        </p:txBody>
      </p:sp>
      <p:sp>
        <p:nvSpPr>
          <p:cNvPr id="15" name="system-map-frame">
            <a:extLst xmlns:a="http://schemas.openxmlformats.org/drawingml/2006/main">
              <a:ext uri="{FF2B5EF4-FFF2-40B4-BE49-F238E27FC236}">
                <a16:creationId xmlns:a16="http://schemas.microsoft.com/office/drawing/2014/main" id="{218B1B4D-2C07-4DEE-BF9A-B377B47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57250"/>
            <a:ext cx="44767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D9D1C5"/>
            </a:solidFill>
            <a:prstDash val="solid"/>
          </a:ln>
        </p:spPr>
      </p:sp>
      <p:sp>
        <p:nvSpPr>
          <p:cNvPr id="16" name="system-map-title">
            <a:extLst xmlns:a="http://schemas.openxmlformats.org/drawingml/2006/main">
              <a:ext uri="{FF2B5EF4-FFF2-40B4-BE49-F238E27FC236}">
                <a16:creationId xmlns:a16="http://schemas.microsoft.com/office/drawing/2014/main" id="{AB564E5B-05AC-470D-AC0C-D4859702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858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Signal flow map</a:t>
            </a:r>
          </a:p>
        </p:txBody>
      </p:sp>
      <p:sp>
        <p:nvSpPr>
          <p:cNvPr id="17" name="map-chip-1">
            <a:extLst xmlns:a="http://schemas.openxmlformats.org/drawingml/2006/main">
              <a:ext uri="{FF2B5EF4-FFF2-40B4-BE49-F238E27FC236}">
                <a16:creationId xmlns:a16="http://schemas.microsoft.com/office/drawing/2014/main" id="{E77EE111-FE29-4C93-8BF2-81A82839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0020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EAD9CE"/>
            </a:solidFill>
            <a:prstDash val="solid"/>
          </a:ln>
        </p:spPr>
      </p:sp>
      <p:sp>
        <p:nvSpPr>
          <p:cNvPr id="18" name="map-chip-label-1">
            <a:extLst xmlns:a="http://schemas.openxmlformats.org/drawingml/2006/main">
              <a:ext uri="{FF2B5EF4-FFF2-40B4-BE49-F238E27FC236}">
                <a16:creationId xmlns:a16="http://schemas.microsoft.com/office/drawing/2014/main" id="{0B8348A6-F4D5-40B0-8468-DA0BA1F1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6764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Job signals</a:t>
            </a:r>
          </a:p>
        </p:txBody>
      </p:sp>
      <p:sp>
        <p:nvSpPr>
          <p:cNvPr id="19" name="map-chip-2">
            <a:extLst xmlns:a="http://schemas.openxmlformats.org/drawingml/2006/main">
              <a:ext uri="{FF2B5EF4-FFF2-40B4-BE49-F238E27FC236}">
                <a16:creationId xmlns:a16="http://schemas.microsoft.com/office/drawing/2014/main" id="{74936D71-9CD8-4D77-BC9D-EF87EAD1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0020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EAD9CE"/>
            </a:solidFill>
            <a:prstDash val="solid"/>
          </a:ln>
        </p:spPr>
      </p:sp>
      <p:sp>
        <p:nvSpPr>
          <p:cNvPr id="20" name="map-chip-label-2">
            <a:extLst xmlns:a="http://schemas.openxmlformats.org/drawingml/2006/main">
              <a:ext uri="{FF2B5EF4-FFF2-40B4-BE49-F238E27FC236}">
                <a16:creationId xmlns:a16="http://schemas.microsoft.com/office/drawing/2014/main" id="{04929B38-2DB1-41BC-9F22-C1A35643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6764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Role context</a:t>
            </a:r>
          </a:p>
        </p:txBody>
      </p:sp>
      <p:sp>
        <p:nvSpPr>
          <p:cNvPr id="21" name="map-chip-3">
            <a:extLst xmlns:a="http://schemas.openxmlformats.org/drawingml/2006/main">
              <a:ext uri="{FF2B5EF4-FFF2-40B4-BE49-F238E27FC236}">
                <a16:creationId xmlns:a16="http://schemas.microsoft.com/office/drawing/2014/main" id="{2741E208-EE38-4B3A-9C66-4D912F19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EAD9CE"/>
            </a:solidFill>
            <a:prstDash val="solid"/>
          </a:ln>
        </p:spPr>
      </p:sp>
      <p:sp>
        <p:nvSpPr>
          <p:cNvPr id="22" name="map-chip-label-3">
            <a:extLst xmlns:a="http://schemas.openxmlformats.org/drawingml/2006/main">
              <a:ext uri="{FF2B5EF4-FFF2-40B4-BE49-F238E27FC236}">
                <a16:creationId xmlns:a16="http://schemas.microsoft.com/office/drawing/2014/main" id="{7C7FEBA0-AAA7-4093-BE53-47D0DEB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717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3" name="map-chip-4">
            <a:extLst xmlns:a="http://schemas.openxmlformats.org/drawingml/2006/main">
              <a:ext uri="{FF2B5EF4-FFF2-40B4-BE49-F238E27FC236}">
                <a16:creationId xmlns:a16="http://schemas.microsoft.com/office/drawing/2014/main" id="{A9B0FFD2-2243-4DE6-9DA0-6D64CF8C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EAD9CE"/>
            </a:solidFill>
            <a:prstDash val="solid"/>
          </a:ln>
        </p:spPr>
      </p:sp>
      <p:sp>
        <p:nvSpPr>
          <p:cNvPr id="24" name="map-chip-label-4">
            <a:extLst xmlns:a="http://schemas.openxmlformats.org/drawingml/2006/main">
              <a:ext uri="{FF2B5EF4-FFF2-40B4-BE49-F238E27FC236}">
                <a16:creationId xmlns:a16="http://schemas.microsoft.com/office/drawing/2014/main" id="{1ED4859B-5012-4DB9-AAE9-D4C9B3F3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717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5" name="map-chip-5">
            <a:extLst xmlns:a="http://schemas.openxmlformats.org/drawingml/2006/main">
              <a:ext uri="{FF2B5EF4-FFF2-40B4-BE49-F238E27FC236}">
                <a16:creationId xmlns:a16="http://schemas.microsoft.com/office/drawing/2014/main" id="{EC73BDED-2EF5-4AA9-98B0-308DF804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EAD9CE"/>
            </a:solidFill>
            <a:prstDash val="solid"/>
          </a:ln>
        </p:spPr>
      </p:sp>
      <p:sp>
        <p:nvSpPr>
          <p:cNvPr id="26" name="map-chip-label-5">
            <a:extLst xmlns:a="http://schemas.openxmlformats.org/drawingml/2006/main">
              <a:ext uri="{FF2B5EF4-FFF2-40B4-BE49-F238E27FC236}">
                <a16:creationId xmlns:a16="http://schemas.microsoft.com/office/drawing/2014/main" id="{8B42152E-B91B-4903-AC6C-9D8199C4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670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Write-back</a:t>
            </a:r>
          </a:p>
        </p:txBody>
      </p:sp>
      <p:sp>
        <p:nvSpPr>
          <p:cNvPr id="27" name="map-engine">
            <a:extLst xmlns:a="http://schemas.openxmlformats.org/drawingml/2006/main">
              <a:ext uri="{FF2B5EF4-FFF2-40B4-BE49-F238E27FC236}">
                <a16:creationId xmlns:a16="http://schemas.microsoft.com/office/drawing/2014/main" id="{489D03F2-9CC6-4C80-B7F3-C2466713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0508"/>
          </a:solidFill>
          <a:ln xmlns:a="http://schemas.openxmlformats.org/drawingml/2006/main" w="9525">
            <a:solidFill>
              <a:srgbClr val="2F0508"/>
            </a:solidFill>
            <a:prstDash val="solid"/>
          </a:ln>
        </p:spPr>
      </p:sp>
      <p:sp>
        <p:nvSpPr>
          <p:cNvPr id="28" name="map-engine-text">
            <a:extLst xmlns:a="http://schemas.openxmlformats.org/drawingml/2006/main">
              <a:ext uri="{FF2B5EF4-FFF2-40B4-BE49-F238E27FC236}">
                <a16:creationId xmlns:a16="http://schemas.microsoft.com/office/drawing/2014/main" id="{DCC6DB7A-C25A-4DC4-81F9-09CD4B78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67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Review gates turn raw context into next-step judgment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EBB722-3860-4DC8-B418-A70E8E9F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3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5135F19-89BC-4A7A-9A5D-2C17B58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43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Homepage · Hero</a:t>
            </a:r>
          </a:p>
        </p:txBody>
      </p:sp>
    </p:spTree>
    <p:extLst>
      <p:ext uri="{BB962C8B-B14F-4D97-AF65-F5344CB8AC3E}">
        <p14:creationId xmlns:p14="http://schemas.microsoft.com/office/powerpoint/2010/main" val="1496981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F05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D57074E-91C2-425F-96D7-FBB7E057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FC46F8B4-78C6-47D4-BA62-95103C2C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Quality over quantity.</a:t>
            </a:r>
          </a:p>
        </p:txBody>
      </p:sp>
      <p:sp>
        <p:nvSpPr>
          <p:cNvPr id="3" name="workflow-lead">
            <a:extLst xmlns:a="http://schemas.openxmlformats.org/drawingml/2006/main">
              <a:ext uri="{FF2B5EF4-FFF2-40B4-BE49-F238E27FC236}">
                <a16:creationId xmlns:a16="http://schemas.microsoft.com/office/drawing/2014/main" id="{933B6D4F-5300-4551-A205-7F8E28D3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D7C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D7CD"/>
                </a:solidFill>
                <a:latin typeface="Aptos"/>
                <a:ea typeface="Aptos"/>
                <a:cs typeface="Aptos"/>
              </a:rPr>
              <a:t>A high-quality application is not just a submission. It is selected with care, tailored to the role, backed by proof, sent through a credible path, and reviewed for what should change next.</a:t>
            </a:r>
          </a:p>
        </p:txBody>
      </p:sp>
      <p:sp>
        <p:nvSpPr>
          <p:cNvPr id="4" name="workflow-roadmap-label">
            <a:extLst xmlns:a="http://schemas.openxmlformats.org/drawingml/2006/main">
              <a:ext uri="{FF2B5EF4-FFF2-40B4-BE49-F238E27FC236}">
                <a16:creationId xmlns:a16="http://schemas.microsoft.com/office/drawing/2014/main" id="{7205C886-ABEF-4033-89EC-FE4EE17A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Roadmap for each application</a:t>
            </a:r>
          </a:p>
        </p:txBody>
      </p:sp>
      <p:sp>
        <p:nvSpPr>
          <p:cNvPr id="5" name="step-icon-1">
            <a:extLst xmlns:a="http://schemas.openxmlformats.org/drawingml/2006/main">
              <a:ext uri="{FF2B5EF4-FFF2-40B4-BE49-F238E27FC236}">
                <a16:creationId xmlns:a16="http://schemas.microsoft.com/office/drawing/2014/main" id="{4DA5B3CA-69B1-44E7-922A-603CADB1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4A1516"/>
          </a:solidFill>
          <a:ln xmlns:a="http://schemas.openxmlformats.org/drawingml/2006/main" w="9525">
            <a:solidFill>
              <a:srgbClr val="9F544A"/>
            </a:solidFill>
            <a:prstDash val="solid"/>
          </a:ln>
        </p:spPr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0343DF99-C690-4C52-8ACB-F4D4F561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1FBD3B4B-7D25-49F7-A8BF-DA6DC202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90925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Find the right role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69213A6B-984B-40AE-A707-5724F383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97B"/>
          </a:solidFill>
          <a:ln xmlns:a="http://schemas.openxmlformats.org/drawingml/2006/main" w="9525">
            <a:solidFill>
              <a:srgbClr val="F0997B"/>
            </a:solidFill>
            <a:prstDash val="solid"/>
          </a:ln>
        </p:spPr>
      </p:sp>
      <p:sp>
        <p:nvSpPr>
          <p:cNvPr id="9" name="step-line-1">
            <a:extLst xmlns:a="http://schemas.openxmlformats.org/drawingml/2006/main">
              <a:ext uri="{FF2B5EF4-FFF2-40B4-BE49-F238E27FC236}">
                <a16:creationId xmlns:a16="http://schemas.microsoft.com/office/drawing/2014/main" id="{D82C086A-92F9-4DA1-9E0B-438C22A3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33925"/>
            <a:ext cx="147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icon-2">
            <a:extLst xmlns:a="http://schemas.openxmlformats.org/drawingml/2006/main">
              <a:ext uri="{FF2B5EF4-FFF2-40B4-BE49-F238E27FC236}">
                <a16:creationId xmlns:a16="http://schemas.microsoft.com/office/drawing/2014/main" id="{397577E0-C57D-4818-908D-813B7321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57525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4A1516"/>
          </a:solidFill>
          <a:ln xmlns:a="http://schemas.openxmlformats.org/drawingml/2006/main" w="9525">
            <a:solidFill>
              <a:srgbClr val="9F544A"/>
            </a:solidFill>
            <a:prstDash val="solid"/>
          </a:ln>
        </p:spPr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072EF2B-9E70-4427-9198-7752A7EB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71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A9E901DA-2570-43AA-98F7-2EFA9097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90925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Tailor the resume to the JD</a:t>
            </a:r>
          </a:p>
        </p:txBody>
      </p:sp>
      <p:sp>
        <p:nvSpPr>
          <p:cNvPr id="13" name="step-dot-2">
            <a:extLst xmlns:a="http://schemas.openxmlformats.org/drawingml/2006/main">
              <a:ext uri="{FF2B5EF4-FFF2-40B4-BE49-F238E27FC236}">
                <a16:creationId xmlns:a16="http://schemas.microsoft.com/office/drawing/2014/main" id="{37F3E7F3-B7DC-44DA-8FA6-BC038E6B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97B"/>
          </a:solidFill>
          <a:ln xmlns:a="http://schemas.openxmlformats.org/drawingml/2006/main" w="9525">
            <a:solidFill>
              <a:srgbClr val="F0997B"/>
            </a:solidFill>
            <a:prstDash val="solid"/>
          </a:ln>
        </p:spPr>
      </p:sp>
      <p:sp>
        <p:nvSpPr>
          <p:cNvPr id="14" name="step-line-2">
            <a:extLst xmlns:a="http://schemas.openxmlformats.org/drawingml/2006/main">
              <a:ext uri="{FF2B5EF4-FFF2-40B4-BE49-F238E27FC236}">
                <a16:creationId xmlns:a16="http://schemas.microsoft.com/office/drawing/2014/main" id="{0ED7ECB1-0010-4E78-95CA-445B5134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733925"/>
            <a:ext cx="147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icon-3">
            <a:extLst xmlns:a="http://schemas.openxmlformats.org/drawingml/2006/main">
              <a:ext uri="{FF2B5EF4-FFF2-40B4-BE49-F238E27FC236}">
                <a16:creationId xmlns:a16="http://schemas.microsoft.com/office/drawing/2014/main" id="{8838DA13-7D2E-42D8-9164-C6433BD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57525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4A1516"/>
          </a:solidFill>
          <a:ln xmlns:a="http://schemas.openxmlformats.org/drawingml/2006/main" w="9525">
            <a:solidFill>
              <a:srgbClr val="9F544A"/>
            </a:solidFill>
            <a:prstDash val="solid"/>
          </a:ln>
        </p:spPr>
      </p:sp>
      <p:sp>
        <p:nvSpPr>
          <p:cNvPr id="16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43792113-18B3-4019-AAC3-4441DA46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71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743847D9-29D8-4C1D-A700-74EC76F2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90925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Prepare proof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84E5C5E3-C90F-4FBE-AC86-1B4A1A20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97B"/>
          </a:solidFill>
          <a:ln xmlns:a="http://schemas.openxmlformats.org/drawingml/2006/main" w="9525">
            <a:solidFill>
              <a:srgbClr val="F0997B"/>
            </a:solidFill>
            <a:prstDash val="solid"/>
          </a:ln>
        </p:spPr>
      </p:sp>
      <p:sp>
        <p:nvSpPr>
          <p:cNvPr id="19" name="step-line-3">
            <a:extLst xmlns:a="http://schemas.openxmlformats.org/drawingml/2006/main">
              <a:ext uri="{FF2B5EF4-FFF2-40B4-BE49-F238E27FC236}">
                <a16:creationId xmlns:a16="http://schemas.microsoft.com/office/drawing/2014/main" id="{B1C9D24F-8597-4A6E-B593-E2BE0FD9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33925"/>
            <a:ext cx="147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icon-4">
            <a:extLst xmlns:a="http://schemas.openxmlformats.org/drawingml/2006/main">
              <a:ext uri="{FF2B5EF4-FFF2-40B4-BE49-F238E27FC236}">
                <a16:creationId xmlns:a16="http://schemas.microsoft.com/office/drawing/2014/main" id="{6A39B7F6-3612-4FD0-9E07-9E044C98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57525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4A1516"/>
          </a:solidFill>
          <a:ln xmlns:a="http://schemas.openxmlformats.org/drawingml/2006/main" w="9525">
            <a:solidFill>
              <a:srgbClr val="9F544A"/>
            </a:solidFill>
            <a:prstDash val="solid"/>
          </a:ln>
        </p:spPr>
      </p:sp>
      <p:sp>
        <p:nvSpPr>
          <p:cNvPr id="21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5F1BEC08-CAA0-4FEA-AF99-7EFFA7C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71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5EB47F88-1D7B-4335-B319-BD27A278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23" name="step-dot-4">
            <a:extLst xmlns:a="http://schemas.openxmlformats.org/drawingml/2006/main">
              <a:ext uri="{FF2B5EF4-FFF2-40B4-BE49-F238E27FC236}">
                <a16:creationId xmlns:a16="http://schemas.microsoft.com/office/drawing/2014/main" id="{48E508F2-B1E1-4904-A431-091D6786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97B"/>
          </a:solidFill>
          <a:ln xmlns:a="http://schemas.openxmlformats.org/drawingml/2006/main" w="9525">
            <a:solidFill>
              <a:srgbClr val="F0997B"/>
            </a:solidFill>
            <a:prstDash val="solid"/>
          </a:ln>
        </p:spPr>
      </p:sp>
      <p:sp>
        <p:nvSpPr>
          <p:cNvPr id="24" name="step-line-4">
            <a:extLst xmlns:a="http://schemas.openxmlformats.org/drawingml/2006/main">
              <a:ext uri="{FF2B5EF4-FFF2-40B4-BE49-F238E27FC236}">
                <a16:creationId xmlns:a16="http://schemas.microsoft.com/office/drawing/2014/main" id="{610E32C1-B901-4FB5-8140-945206B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33925"/>
            <a:ext cx="147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icon-5">
            <a:extLst xmlns:a="http://schemas.openxmlformats.org/drawingml/2006/main">
              <a:ext uri="{FF2B5EF4-FFF2-40B4-BE49-F238E27FC236}">
                <a16:creationId xmlns:a16="http://schemas.microsoft.com/office/drawing/2014/main" id="{5ACBCC78-5CA2-499E-BA21-36A62D90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4A1516"/>
          </a:solidFill>
          <a:ln xmlns:a="http://schemas.openxmlformats.org/drawingml/2006/main" w="9525">
            <a:solidFill>
              <a:srgbClr val="9F544A"/>
            </a:solidFill>
            <a:prstDash val="solid"/>
          </a:ln>
        </p:spPr>
      </p:sp>
      <p:sp>
        <p:nvSpPr>
          <p:cNvPr id="26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E53377C1-8F97-4CD1-9154-01A1C9EB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71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C0C34075-822B-49A7-83EF-263E4EE0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90925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Connect with relevant people</a:t>
            </a:r>
          </a:p>
        </p:txBody>
      </p:sp>
      <p:sp>
        <p:nvSpPr>
          <p:cNvPr id="28" name="step-dot-5">
            <a:extLst xmlns:a="http://schemas.openxmlformats.org/drawingml/2006/main">
              <a:ext uri="{FF2B5EF4-FFF2-40B4-BE49-F238E27FC236}">
                <a16:creationId xmlns:a16="http://schemas.microsoft.com/office/drawing/2014/main" id="{42FBCA76-5C82-4D5C-9FB3-7BF61ADF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97B"/>
          </a:solidFill>
          <a:ln xmlns:a="http://schemas.openxmlformats.org/drawingml/2006/main" w="9525">
            <a:solidFill>
              <a:srgbClr val="F0997B"/>
            </a:solidFill>
            <a:prstDash val="solid"/>
          </a:ln>
        </p:spPr>
      </p:sp>
      <p:sp>
        <p:nvSpPr>
          <p:cNvPr id="29" name="step-line-5">
            <a:extLst xmlns:a="http://schemas.openxmlformats.org/drawingml/2006/main">
              <a:ext uri="{FF2B5EF4-FFF2-40B4-BE49-F238E27FC236}">
                <a16:creationId xmlns:a16="http://schemas.microsoft.com/office/drawing/2014/main" id="{9544DCBC-105B-4D21-8A4D-3E901B18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47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54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ep-icon-6">
            <a:extLst xmlns:a="http://schemas.openxmlformats.org/drawingml/2006/main">
              <a:ext uri="{FF2B5EF4-FFF2-40B4-BE49-F238E27FC236}">
                <a16:creationId xmlns:a16="http://schemas.microsoft.com/office/drawing/2014/main" id="{B17F3AF7-A54B-4727-A10B-9F417201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4A1516"/>
          </a:solidFill>
          <a:ln xmlns:a="http://schemas.openxmlformats.org/drawingml/2006/main" w="9525">
            <a:solidFill>
              <a:srgbClr val="9F544A"/>
            </a:solidFill>
            <a:prstDash val="solid"/>
          </a:ln>
        </p:spPr>
      </p:sp>
      <p:sp>
        <p:nvSpPr>
          <p:cNvPr id="31" name="step-number-6">
            <a:extLst xmlns:a="http://schemas.openxmlformats.org/drawingml/2006/main">
              <a:ext uri="{FF2B5EF4-FFF2-40B4-BE49-F238E27FC236}">
                <a16:creationId xmlns:a16="http://schemas.microsoft.com/office/drawing/2014/main" id="{E8EF7C98-3238-4C1F-B42C-3C358EB6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718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DF2E3DCC-BDD1-45CF-8702-E7F597CA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90925"/>
            <a:ext cx="127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Improve the next cycle</a:t>
            </a:r>
          </a:p>
        </p:txBody>
      </p:sp>
      <p:sp>
        <p:nvSpPr>
          <p:cNvPr id="33" name="step-dot-6">
            <a:extLst xmlns:a="http://schemas.openxmlformats.org/drawingml/2006/main">
              <a:ext uri="{FF2B5EF4-FFF2-40B4-BE49-F238E27FC236}">
                <a16:creationId xmlns:a16="http://schemas.microsoft.com/office/drawing/2014/main" id="{135F5205-9BBC-4FB7-97B6-8C7FDA9B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97B"/>
          </a:solidFill>
          <a:ln xmlns:a="http://schemas.openxmlformats.org/drawingml/2006/main" w="9525">
            <a:solidFill>
              <a:srgbClr val="F0997B"/>
            </a:solidFill>
            <a:prstDash val="solid"/>
          </a:ln>
        </p:spPr>
      </p:sp>
      <p:sp>
        <p:nvSpPr>
          <p:cNvPr id="3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5A9B0AE-AD88-430A-A500-6D9F253D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D9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D9CE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3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05BECF9-D446-46DB-AE48-3A31247F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43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7D9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D9CE"/>
                </a:solidFill>
                <a:latin typeface="Aptos"/>
                <a:ea typeface="Aptos"/>
                <a:cs typeface="Aptos"/>
              </a:rPr>
              <a:t>Homepage · Workflow</a:t>
            </a:r>
          </a:p>
        </p:txBody>
      </p:sp>
    </p:spTree>
    <p:extLst>
      <p:ext uri="{BB962C8B-B14F-4D97-AF65-F5344CB8AC3E}">
        <p14:creationId xmlns:p14="http://schemas.microsoft.com/office/powerpoint/2010/main" val="1005954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41a848a104ce5"/>
          <a:stretch xmlns:a="http://schemas.openxmlformats.org/drawingml/2006/main"/>
        </p:blipFill>
        <p:spPr>
          <a:xfrm xmlns:a="http://schemas.openxmlformats.org/drawingml/2006/main">
            <a:off x="571500" y="1381125"/>
            <a:ext cx="5905500" cy="2952750"/>
          </a:xfrm>
          <a:prstGeom xmlns:a="http://schemas.openxmlformats.org/drawingml/2006/main" prst="roundRect">
            <a:avLst>
              <a:gd name="adj" fmla="val 2299"/>
            </a:avLst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D518C1A-5996-4486-9B43-E6A00D0B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429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RELIABILITY LAYER</a:t>
            </a:r>
          </a:p>
        </p:txBody>
      </p:sp>
      <p:sp>
        <p:nvSpPr>
          <p:cNvPr id="3" name="reliability-title">
            <a:extLst xmlns:a="http://schemas.openxmlformats.org/drawingml/2006/main">
              <a:ext uri="{FF2B5EF4-FFF2-40B4-BE49-F238E27FC236}">
                <a16:creationId xmlns:a16="http://schemas.microsoft.com/office/drawing/2014/main" id="{D50E9C98-069E-4ECB-B289-8FF932A1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AI-assisted skill layer</a:t>
            </a:r>
          </a:p>
        </p:txBody>
      </p:sp>
      <p:sp>
        <p:nvSpPr>
          <p:cNvPr id="4" name="reliability-copy-1">
            <a:extLst xmlns:a="http://schemas.openxmlformats.org/drawingml/2006/main">
              <a:ext uri="{FF2B5EF4-FFF2-40B4-BE49-F238E27FC236}">
                <a16:creationId xmlns:a16="http://schemas.microsoft.com/office/drawing/2014/main" id="{378C2CD7-9527-4FD9-BDFE-BED678E0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4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4235"/>
                </a:solidFill>
                <a:latin typeface="Aptos"/>
                <a:ea typeface="Aptos"/>
                <a:cs typeface="Aptos"/>
              </a:rPr>
              <a:t>A workflow becomes more valuable when each run makes the next one sharper.</a:t>
            </a:r>
          </a:p>
        </p:txBody>
      </p:sp>
      <p:sp>
        <p:nvSpPr>
          <p:cNvPr id="5" name="reliability-copy-2">
            <a:extLst xmlns:a="http://schemas.openxmlformats.org/drawingml/2006/main">
              <a:ext uri="{FF2B5EF4-FFF2-40B4-BE49-F238E27FC236}">
                <a16:creationId xmlns:a16="http://schemas.microsoft.com/office/drawing/2014/main" id="{FEE534C8-629D-4412-A4B9-FB34FAE2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24150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After each role, company signal, or stakeholder question moves through the roadmap, I use AI to externalize the judgment: what mattered, what was missing, what could not be claimed, and where human review changed the decision.</a:t>
            </a:r>
          </a:p>
        </p:txBody>
      </p:sp>
      <p:sp>
        <p:nvSpPr>
          <p:cNvPr id="6" name="reliability-copy-3">
            <a:extLst xmlns:a="http://schemas.openxmlformats.org/drawingml/2006/main">
              <a:ext uri="{FF2B5EF4-FFF2-40B4-BE49-F238E27FC236}">
                <a16:creationId xmlns:a16="http://schemas.microsoft.com/office/drawing/2014/main" id="{D651D0FD-DD46-4B53-BC68-0FF34C43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Repeated patterns become one reusable AI skill for source order, audience context, KPI questions, guardrails, review points, and write-back behavior.</a:t>
            </a:r>
          </a:p>
        </p:txBody>
      </p:sp>
      <p:sp>
        <p:nvSpPr>
          <p:cNvPr id="7" name="reliability-callout">
            <a:extLst xmlns:a="http://schemas.openxmlformats.org/drawingml/2006/main">
              <a:ext uri="{FF2B5EF4-FFF2-40B4-BE49-F238E27FC236}">
                <a16:creationId xmlns:a16="http://schemas.microsoft.com/office/drawing/2014/main" id="{E8B82A7C-11AB-4AD2-93F9-00D57970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10150"/>
            <a:ext cx="4095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0D1C5"/>
            </a:solidFill>
            <a:prstDash val="solid"/>
          </a:ln>
        </p:spPr>
      </p:sp>
      <p:sp>
        <p:nvSpPr>
          <p:cNvPr id="8" name="reliability-callout-text">
            <a:extLst xmlns:a="http://schemas.openxmlformats.org/drawingml/2006/main">
              <a:ext uri="{FF2B5EF4-FFF2-40B4-BE49-F238E27FC236}">
                <a16:creationId xmlns:a16="http://schemas.microsoft.com/office/drawing/2014/main" id="{985E2B4E-9AF1-4E38-94A7-015D2416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81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The next run starts from a clearer method.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CD756A-2B85-4DF0-B53F-70027509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302E7EC-B7A5-4D5C-943D-7CE1C2F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43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Homepage · Reliability</a:t>
            </a:r>
          </a:p>
        </p:txBody>
      </p:sp>
    </p:spTree>
    <p:extLst>
      <p:ext uri="{BB962C8B-B14F-4D97-AF65-F5344CB8AC3E}">
        <p14:creationId xmlns:p14="http://schemas.microsoft.com/office/powerpoint/2010/main" val="564737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FFA54EF-7D45-49C9-BE32-0395268E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MARKETING FIT</a:t>
            </a:r>
          </a:p>
        </p:txBody>
      </p:sp>
      <p:sp>
        <p:nvSpPr>
          <p:cNvPr id="2" name="marketing-title">
            <a:extLst xmlns:a="http://schemas.openxmlformats.org/drawingml/2006/main">
              <a:ext uri="{FF2B5EF4-FFF2-40B4-BE49-F238E27FC236}">
                <a16:creationId xmlns:a16="http://schemas.microsoft.com/office/drawing/2014/main" id="{DF5690C9-58B1-4408-B9F8-7228207D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19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Why it matters for Marketing / GTM analytics</a:t>
            </a:r>
          </a:p>
        </p:txBody>
      </p:sp>
      <p:sp>
        <p:nvSpPr>
          <p:cNvPr id="3" name="marketing-copy-1">
            <a:extLst xmlns:a="http://schemas.openxmlformats.org/drawingml/2006/main">
              <a:ext uri="{FF2B5EF4-FFF2-40B4-BE49-F238E27FC236}">
                <a16:creationId xmlns:a16="http://schemas.microsoft.com/office/drawing/2014/main" id="{44C24124-F47C-4C69-B00C-8E6EA4FB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4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A4235"/>
                </a:solidFill>
                <a:latin typeface="Aptos"/>
                <a:ea typeface="Aptos"/>
                <a:cs typeface="Aptos"/>
              </a:rPr>
              <a:t>Good marketing analytics depends on the work that happens before the dashboard: clean source context, meaningful audience logic, focused KPI questions, and handoffs that turn reporting into clearer campaign, channel, audience, or workflow decisions.</a:t>
            </a:r>
          </a:p>
        </p:txBody>
      </p:sp>
      <p:sp>
        <p:nvSpPr>
          <p:cNvPr id="4" name="marketing-copy-2">
            <a:extLst xmlns:a="http://schemas.openxmlformats.org/drawingml/2006/main">
              <a:ext uri="{FF2B5EF4-FFF2-40B4-BE49-F238E27FC236}">
                <a16:creationId xmlns:a16="http://schemas.microsoft.com/office/drawing/2014/main" id="{15F0B444-81C5-433F-BE2C-31544FE7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This pipeline practices that same pattern. Each role, company read, or conversation becomes a small GTM signal system.</a:t>
            </a:r>
          </a:p>
        </p:txBody>
      </p:sp>
      <p:sp>
        <p:nvSpPr>
          <p:cNvPr id="5" name="marketing-boundary">
            <a:extLst xmlns:a="http://schemas.openxmlformats.org/drawingml/2006/main">
              <a:ext uri="{FF2B5EF4-FFF2-40B4-BE49-F238E27FC236}">
                <a16:creationId xmlns:a16="http://schemas.microsoft.com/office/drawing/2014/main" id="{4DBD980D-B910-45B3-B6DC-624F3B72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Current ownership: source context, claim boundaries, handoff-ready proof, and questions that make reporting useful.</a:t>
            </a:r>
          </a:p>
        </p:txBody>
      </p:sp>
      <p:sp>
        <p:nvSpPr>
          <p:cNvPr id="6" name="decision-map">
            <a:extLst xmlns:a="http://schemas.openxmlformats.org/drawingml/2006/main">
              <a:ext uri="{FF2B5EF4-FFF2-40B4-BE49-F238E27FC236}">
                <a16:creationId xmlns:a16="http://schemas.microsoft.com/office/drawing/2014/main" id="{A0E186DD-79A7-4F38-AB21-8CD15568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95350"/>
            <a:ext cx="4114800" cy="45720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A">
              <a:alpha val="80000"/>
            </a:srgbClr>
          </a:solidFill>
          <a:ln xmlns:a="http://schemas.openxmlformats.org/drawingml/2006/main" w="9525">
            <a:solidFill>
              <a:srgbClr val="DED6CB"/>
            </a:solidFill>
            <a:prstDash val="solid"/>
          </a:ln>
        </p:spPr>
      </p:sp>
      <p:sp>
        <p:nvSpPr>
          <p:cNvPr id="7" name="decision-map-kicker">
            <a:extLst xmlns:a="http://schemas.openxmlformats.org/drawingml/2006/main">
              <a:ext uri="{FF2B5EF4-FFF2-40B4-BE49-F238E27FC236}">
                <a16:creationId xmlns:a16="http://schemas.microsoft.com/office/drawing/2014/main" id="{D9BD02D0-14A3-4D1B-A5A6-7865781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00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Before the dashboard</a:t>
            </a:r>
          </a:p>
        </p:txBody>
      </p:sp>
      <p:sp>
        <p:nvSpPr>
          <p:cNvPr id="8" name="decision-map-title">
            <a:extLst xmlns:a="http://schemas.openxmlformats.org/drawingml/2006/main">
              <a:ext uri="{FF2B5EF4-FFF2-40B4-BE49-F238E27FC236}">
                <a16:creationId xmlns:a16="http://schemas.microsoft.com/office/drawing/2014/main" id="{373B9E70-A50E-48BE-A1AD-3EFA713C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85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Upstream work shapes decision quality</a:t>
            </a:r>
          </a:p>
        </p:txBody>
      </p:sp>
      <p:sp>
        <p:nvSpPr>
          <p:cNvPr id="9" name="decision-node-1">
            <a:extLst xmlns:a="http://schemas.openxmlformats.org/drawingml/2006/main">
              <a:ext uri="{FF2B5EF4-FFF2-40B4-BE49-F238E27FC236}">
                <a16:creationId xmlns:a16="http://schemas.microsoft.com/office/drawing/2014/main" id="{7B57B705-8F86-4D6C-99A4-6AF3B2A9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0C9BA"/>
            </a:solidFill>
            <a:prstDash val="solid"/>
          </a:ln>
        </p:spPr>
      </p:sp>
      <p:sp>
        <p:nvSpPr>
          <p:cNvPr id="10" name="decision-number-1">
            <a:extLst xmlns:a="http://schemas.openxmlformats.org/drawingml/2006/main">
              <a:ext uri="{FF2B5EF4-FFF2-40B4-BE49-F238E27FC236}">
                <a16:creationId xmlns:a16="http://schemas.microsoft.com/office/drawing/2014/main" id="{AEEE0F65-77CD-46C4-BD7C-87C53A48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193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decision-step-1">
            <a:extLst xmlns:a="http://schemas.openxmlformats.org/drawingml/2006/main">
              <a:ext uri="{FF2B5EF4-FFF2-40B4-BE49-F238E27FC236}">
                <a16:creationId xmlns:a16="http://schemas.microsoft.com/office/drawing/2014/main" id="{701A2684-76C8-4B0F-BA95-E6A0DFE1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90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2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291F"/>
                </a:solidFill>
                <a:latin typeface="Aptos"/>
                <a:ea typeface="Aptos"/>
                <a:cs typeface="Aptos"/>
              </a:rPr>
              <a:t>Clean source context</a:t>
            </a:r>
          </a:p>
        </p:txBody>
      </p:sp>
      <p:sp>
        <p:nvSpPr>
          <p:cNvPr id="12" name="decision-node-2">
            <a:extLst xmlns:a="http://schemas.openxmlformats.org/drawingml/2006/main">
              <a:ext uri="{FF2B5EF4-FFF2-40B4-BE49-F238E27FC236}">
                <a16:creationId xmlns:a16="http://schemas.microsoft.com/office/drawing/2014/main" id="{6D45C919-EEFE-4DF3-A121-38CEA01E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0C9BA"/>
            </a:solidFill>
            <a:prstDash val="solid"/>
          </a:ln>
        </p:spPr>
      </p:sp>
      <p:sp>
        <p:nvSpPr>
          <p:cNvPr id="13" name="decision-number-2">
            <a:extLst xmlns:a="http://schemas.openxmlformats.org/drawingml/2006/main">
              <a:ext uri="{FF2B5EF4-FFF2-40B4-BE49-F238E27FC236}">
                <a16:creationId xmlns:a16="http://schemas.microsoft.com/office/drawing/2014/main" id="{840E7DE0-CC40-42C5-8F8C-676A1CF6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718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decision-step-2">
            <a:extLst xmlns:a="http://schemas.openxmlformats.org/drawingml/2006/main">
              <a:ext uri="{FF2B5EF4-FFF2-40B4-BE49-F238E27FC236}">
                <a16:creationId xmlns:a16="http://schemas.microsoft.com/office/drawing/2014/main" id="{59208FD9-89C6-4C9B-A19C-A245768E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432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2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291F"/>
                </a:solidFill>
                <a:latin typeface="Aptos"/>
                <a:ea typeface="Aptos"/>
                <a:cs typeface="Aptos"/>
              </a:rPr>
              <a:t>Meaningful audience logic</a:t>
            </a:r>
          </a:p>
        </p:txBody>
      </p:sp>
      <p:sp>
        <p:nvSpPr>
          <p:cNvPr id="15" name="decision-node-3">
            <a:extLst xmlns:a="http://schemas.openxmlformats.org/drawingml/2006/main">
              <a:ext uri="{FF2B5EF4-FFF2-40B4-BE49-F238E27FC236}">
                <a16:creationId xmlns:a16="http://schemas.microsoft.com/office/drawing/2014/main" id="{65D40830-41A3-4C24-ABA5-B0044B45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0C9BA"/>
            </a:solidFill>
            <a:prstDash val="solid"/>
          </a:ln>
        </p:spPr>
      </p:sp>
      <p:sp>
        <p:nvSpPr>
          <p:cNvPr id="16" name="decision-number-3">
            <a:extLst xmlns:a="http://schemas.openxmlformats.org/drawingml/2006/main">
              <a:ext uri="{FF2B5EF4-FFF2-40B4-BE49-F238E27FC236}">
                <a16:creationId xmlns:a16="http://schemas.microsoft.com/office/drawing/2014/main" id="{58BAE1C5-73B0-4572-9F26-97F43DD7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242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decision-step-3">
            <a:extLst xmlns:a="http://schemas.openxmlformats.org/drawingml/2006/main">
              <a:ext uri="{FF2B5EF4-FFF2-40B4-BE49-F238E27FC236}">
                <a16:creationId xmlns:a16="http://schemas.microsoft.com/office/drawing/2014/main" id="{93E4F325-4E66-4B56-93DE-AA19762E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956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2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291F"/>
                </a:solidFill>
                <a:latin typeface="Aptos"/>
                <a:ea typeface="Aptos"/>
                <a:cs typeface="Aptos"/>
              </a:rPr>
              <a:t>Focused KPI questions</a:t>
            </a:r>
          </a:p>
        </p:txBody>
      </p:sp>
      <p:sp>
        <p:nvSpPr>
          <p:cNvPr id="18" name="decision-node-4">
            <a:extLst xmlns:a="http://schemas.openxmlformats.org/drawingml/2006/main">
              <a:ext uri="{FF2B5EF4-FFF2-40B4-BE49-F238E27FC236}">
                <a16:creationId xmlns:a16="http://schemas.microsoft.com/office/drawing/2014/main" id="{1AFFC836-EABD-4433-880A-4F7B7A0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81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0C9BA"/>
            </a:solidFill>
            <a:prstDash val="solid"/>
          </a:ln>
        </p:spPr>
      </p:sp>
      <p:sp>
        <p:nvSpPr>
          <p:cNvPr id="19" name="decision-number-4">
            <a:extLst xmlns:a="http://schemas.openxmlformats.org/drawingml/2006/main">
              <a:ext uri="{FF2B5EF4-FFF2-40B4-BE49-F238E27FC236}">
                <a16:creationId xmlns:a16="http://schemas.microsoft.com/office/drawing/2014/main" id="{78DC5CF5-20CF-4B48-84D2-556284B6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767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decision-step-4">
            <a:extLst xmlns:a="http://schemas.openxmlformats.org/drawingml/2006/main">
              <a:ext uri="{FF2B5EF4-FFF2-40B4-BE49-F238E27FC236}">
                <a16:creationId xmlns:a16="http://schemas.microsoft.com/office/drawing/2014/main" id="{4A687FB7-09D3-4890-A652-8DEAE841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48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2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291F"/>
                </a:solidFill>
                <a:latin typeface="Aptos"/>
                <a:ea typeface="Aptos"/>
                <a:cs typeface="Aptos"/>
              </a:rPr>
              <a:t>Handoff-ready readout</a:t>
            </a:r>
          </a:p>
        </p:txBody>
      </p:sp>
      <p:sp>
        <p:nvSpPr>
          <p:cNvPr id="21" name="decision-outcome-label">
            <a:extLst xmlns:a="http://schemas.openxmlformats.org/drawingml/2006/main">
              <a:ext uri="{FF2B5EF4-FFF2-40B4-BE49-F238E27FC236}">
                <a16:creationId xmlns:a16="http://schemas.microsoft.com/office/drawing/2014/main" id="{2716047F-AE0F-4DD2-A5CA-C587CECA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Turns into decisions about</a:t>
            </a:r>
          </a:p>
        </p:txBody>
      </p:sp>
      <p:sp>
        <p:nvSpPr>
          <p:cNvPr id="22" name="decision-chip-1">
            <a:extLst xmlns:a="http://schemas.openxmlformats.org/drawingml/2006/main">
              <a:ext uri="{FF2B5EF4-FFF2-40B4-BE49-F238E27FC236}">
                <a16:creationId xmlns:a16="http://schemas.microsoft.com/office/drawing/2014/main" id="{FC077EAD-7B24-4FCE-838A-2E6C9B63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91100"/>
            <a:ext cx="800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0C9BA"/>
            </a:solidFill>
            <a:prstDash val="solid"/>
          </a:ln>
        </p:spPr>
      </p:sp>
      <p:sp>
        <p:nvSpPr>
          <p:cNvPr id="23" name="decision-chip-label-1">
            <a:extLst xmlns:a="http://schemas.openxmlformats.org/drawingml/2006/main">
              <a:ext uri="{FF2B5EF4-FFF2-40B4-BE49-F238E27FC236}">
                <a16:creationId xmlns:a16="http://schemas.microsoft.com/office/drawing/2014/main" id="{F63CD4A1-D1CA-4F00-8160-CEB1F941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076825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Campaign</a:t>
            </a:r>
          </a:p>
        </p:txBody>
      </p:sp>
      <p:sp>
        <p:nvSpPr>
          <p:cNvPr id="24" name="decision-chip-2">
            <a:extLst xmlns:a="http://schemas.openxmlformats.org/drawingml/2006/main">
              <a:ext uri="{FF2B5EF4-FFF2-40B4-BE49-F238E27FC236}">
                <a16:creationId xmlns:a16="http://schemas.microsoft.com/office/drawing/2014/main" id="{36B9A66F-6FD4-4ED9-BA21-F5EEE22C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91100"/>
            <a:ext cx="800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0C9BA"/>
            </a:solidFill>
            <a:prstDash val="solid"/>
          </a:ln>
        </p:spPr>
      </p:sp>
      <p:sp>
        <p:nvSpPr>
          <p:cNvPr id="25" name="decision-chip-label-2">
            <a:extLst xmlns:a="http://schemas.openxmlformats.org/drawingml/2006/main">
              <a:ext uri="{FF2B5EF4-FFF2-40B4-BE49-F238E27FC236}">
                <a16:creationId xmlns:a16="http://schemas.microsoft.com/office/drawing/2014/main" id="{58EC21DE-6DAF-47C7-99B1-C54D3CE7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076825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26" name="decision-chip-3">
            <a:extLst xmlns:a="http://schemas.openxmlformats.org/drawingml/2006/main">
              <a:ext uri="{FF2B5EF4-FFF2-40B4-BE49-F238E27FC236}">
                <a16:creationId xmlns:a16="http://schemas.microsoft.com/office/drawing/2014/main" id="{E0D06ECA-9EA7-48A1-83F8-6996781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91100"/>
            <a:ext cx="800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0C9BA"/>
            </a:solidFill>
            <a:prstDash val="solid"/>
          </a:ln>
        </p:spPr>
      </p:sp>
      <p:sp>
        <p:nvSpPr>
          <p:cNvPr id="27" name="decision-chip-label-3">
            <a:extLst xmlns:a="http://schemas.openxmlformats.org/drawingml/2006/main">
              <a:ext uri="{FF2B5EF4-FFF2-40B4-BE49-F238E27FC236}">
                <a16:creationId xmlns:a16="http://schemas.microsoft.com/office/drawing/2014/main" id="{B295771D-CC97-4F36-8CA7-48100DA0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076825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Audience</a:t>
            </a:r>
          </a:p>
        </p:txBody>
      </p:sp>
      <p:sp>
        <p:nvSpPr>
          <p:cNvPr id="28" name="decision-chip-4">
            <a:extLst xmlns:a="http://schemas.openxmlformats.org/drawingml/2006/main">
              <a:ext uri="{FF2B5EF4-FFF2-40B4-BE49-F238E27FC236}">
                <a16:creationId xmlns:a16="http://schemas.microsoft.com/office/drawing/2014/main" id="{A4D556AE-CE12-4F33-A38E-0792651B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991100"/>
            <a:ext cx="800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F0C9BA"/>
            </a:solidFill>
            <a:prstDash val="solid"/>
          </a:ln>
        </p:spPr>
      </p:sp>
      <p:sp>
        <p:nvSpPr>
          <p:cNvPr id="29" name="decision-chip-label-4">
            <a:extLst xmlns:a="http://schemas.openxmlformats.org/drawingml/2006/main">
              <a:ext uri="{FF2B5EF4-FFF2-40B4-BE49-F238E27FC236}">
                <a16:creationId xmlns:a16="http://schemas.microsoft.com/office/drawing/2014/main" id="{F4C1DA01-84D2-41C7-97F2-1621EA87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076825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3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D57D30-7E57-4539-AF52-3EBB3F28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3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1E58EFE-6553-4F7B-9CB8-A5CC9E55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43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Homepage · Marketing Fit</a:t>
            </a:r>
          </a:p>
        </p:txBody>
      </p:sp>
    </p:spTree>
    <p:extLst>
      <p:ext uri="{BB962C8B-B14F-4D97-AF65-F5344CB8AC3E}">
        <p14:creationId xmlns:p14="http://schemas.microsoft.com/office/powerpoint/2010/main" val="1823217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B89E5A0-69F6-4E3A-8E65-CB7EEB69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2" name="conversation-title">
            <a:extLst xmlns:a="http://schemas.openxmlformats.org/drawingml/2006/main">
              <a:ext uri="{FF2B5EF4-FFF2-40B4-BE49-F238E27FC236}">
                <a16:creationId xmlns:a16="http://schemas.microsoft.com/office/drawing/2014/main" id="{F99D8F19-5997-422A-A538-77BEC862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Where this work could fit</a:t>
            </a:r>
          </a:p>
        </p:txBody>
      </p:sp>
      <p:sp>
        <p:nvSpPr>
          <p:cNvPr id="3" name="conversation-copy">
            <a:extLst xmlns:a="http://schemas.openxmlformats.org/drawingml/2006/main">
              <a:ext uri="{FF2B5EF4-FFF2-40B4-BE49-F238E27FC236}">
                <a16:creationId xmlns:a16="http://schemas.microsoft.com/office/drawing/2014/main" id="{1B27EB59-C39F-482A-A75D-2237649E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191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4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4235"/>
                </a:solidFill>
                <a:latin typeface="Aptos"/>
                <a:ea typeface="Aptos"/>
                <a:cs typeface="Aptos"/>
              </a:rPr>
              <a:t>If this way of working feels relevant to your team, I would value your read on where it fits best: marketing analytics, GTM operations, customer signal work, reporting handoff, or another part of the workflow.</a:t>
            </a:r>
          </a:p>
        </p:txBody>
      </p:sp>
      <p:sp>
        <p:nvSpPr>
          <p:cNvPr id="4" name="conversation-small">
            <a:extLst xmlns:a="http://schemas.openxmlformats.org/drawingml/2006/main">
              <a:ext uri="{FF2B5EF4-FFF2-40B4-BE49-F238E27FC236}">
                <a16:creationId xmlns:a16="http://schemas.microsoft.com/office/drawing/2014/main" id="{C73FAFFD-536C-4C92-9CF0-E5A93D1A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A small reply is enough.</a:t>
            </a:r>
          </a:p>
        </p:txBody>
      </p:sp>
      <p:sp>
        <p:nvSpPr>
          <p:cNvPr id="5" name="feedback-card">
            <a:extLst xmlns:a="http://schemas.openxmlformats.org/drawingml/2006/main">
              <a:ext uri="{FF2B5EF4-FFF2-40B4-BE49-F238E27FC236}">
                <a16:creationId xmlns:a16="http://schemas.microsoft.com/office/drawing/2014/main" id="{1A70A1C6-76B9-4F0C-85D6-92115044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76300"/>
            <a:ext cx="4362450" cy="453390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B"/>
            </a:solidFill>
            <a:prstDash val="solid"/>
          </a:ln>
        </p:spPr>
      </p:sp>
      <p:sp>
        <p:nvSpPr>
          <p:cNvPr id="6" name="feedback-title">
            <a:extLst xmlns:a="http://schemas.openxmlformats.org/drawingml/2006/main">
              <a:ext uri="{FF2B5EF4-FFF2-40B4-BE49-F238E27FC236}">
                <a16:creationId xmlns:a16="http://schemas.microsoft.com/office/drawing/2014/main" id="{EE3B6227-4EC2-4B22-A0C3-8D3A150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200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Send a quick read</a:t>
            </a:r>
          </a:p>
        </p:txBody>
      </p:sp>
      <p:sp>
        <p:nvSpPr>
          <p:cNvPr id="7" name="feedback-option-1">
            <a:extLst xmlns:a="http://schemas.openxmlformats.org/drawingml/2006/main">
              <a:ext uri="{FF2B5EF4-FFF2-40B4-BE49-F238E27FC236}">
                <a16:creationId xmlns:a16="http://schemas.microsoft.com/office/drawing/2014/main" id="{34D278A4-93EF-4F2E-A664-65D997E5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F4"/>
          </a:solidFill>
          <a:ln xmlns:a="http://schemas.openxmlformats.org/drawingml/2006/main" w="9525">
            <a:solidFill>
              <a:srgbClr val="EFCBBB"/>
            </a:solidFill>
            <a:prstDash val="solid"/>
          </a:ln>
        </p:spPr>
      </p:sp>
      <p:sp>
        <p:nvSpPr>
          <p:cNvPr id="8" name="feedback-option-label-1">
            <a:extLst xmlns:a="http://schemas.openxmlformats.org/drawingml/2006/main">
              <a:ext uri="{FF2B5EF4-FFF2-40B4-BE49-F238E27FC236}">
                <a16:creationId xmlns:a16="http://schemas.microsoft.com/office/drawing/2014/main" id="{4FEF88E4-8CF1-493E-858C-B7E95122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669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Most useful</a:t>
            </a:r>
          </a:p>
        </p:txBody>
      </p:sp>
      <p:sp>
        <p:nvSpPr>
          <p:cNvPr id="9" name="feedback-option-2">
            <a:extLst xmlns:a="http://schemas.openxmlformats.org/drawingml/2006/main">
              <a:ext uri="{FF2B5EF4-FFF2-40B4-BE49-F238E27FC236}">
                <a16:creationId xmlns:a16="http://schemas.microsoft.com/office/drawing/2014/main" id="{11B52342-FE82-441E-8FE7-5C3CF806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3355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6F0"/>
          </a:solidFill>
          <a:ln xmlns:a="http://schemas.openxmlformats.org/drawingml/2006/main" w="9525">
            <a:solidFill>
              <a:srgbClr val="EFCBBB"/>
            </a:solidFill>
            <a:prstDash val="solid"/>
          </a:ln>
        </p:spPr>
      </p:sp>
      <p:sp>
        <p:nvSpPr>
          <p:cNvPr id="10" name="feedback-option-label-2">
            <a:extLst xmlns:a="http://schemas.openxmlformats.org/drawingml/2006/main">
              <a:ext uri="{FF2B5EF4-FFF2-40B4-BE49-F238E27FC236}">
                <a16:creationId xmlns:a16="http://schemas.microsoft.com/office/drawing/2014/main" id="{1DE37240-5AC1-41FA-92B2-1214443B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669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Least relevant</a:t>
            </a:r>
          </a:p>
        </p:txBody>
      </p:sp>
      <p:sp>
        <p:nvSpPr>
          <p:cNvPr id="11" name="feedback-option-3">
            <a:extLst xmlns:a="http://schemas.openxmlformats.org/drawingml/2006/main">
              <a:ext uri="{FF2B5EF4-FFF2-40B4-BE49-F238E27FC236}">
                <a16:creationId xmlns:a16="http://schemas.microsoft.com/office/drawing/2014/main" id="{634D9C9A-2896-42FE-B1C0-0FF6FAD9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3355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6F0"/>
          </a:solidFill>
          <a:ln xmlns:a="http://schemas.openxmlformats.org/drawingml/2006/main" w="9525">
            <a:solidFill>
              <a:srgbClr val="EFCBBB"/>
            </a:solidFill>
            <a:prstDash val="solid"/>
          </a:ln>
        </p:spPr>
      </p:sp>
      <p:sp>
        <p:nvSpPr>
          <p:cNvPr id="12" name="feedback-option-label-3">
            <a:extLst xmlns:a="http://schemas.openxmlformats.org/drawingml/2006/main">
              <a:ext uri="{FF2B5EF4-FFF2-40B4-BE49-F238E27FC236}">
                <a16:creationId xmlns:a16="http://schemas.microsoft.com/office/drawing/2014/main" id="{2F5C48C1-411D-40B3-8B29-0F4D95A9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669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Best-fit team</a:t>
            </a:r>
          </a:p>
        </p:txBody>
      </p:sp>
      <p:sp>
        <p:nvSpPr>
          <p:cNvPr id="13" name="feedback-textarea">
            <a:extLst xmlns:a="http://schemas.openxmlformats.org/drawingml/2006/main">
              <a:ext uri="{FF2B5EF4-FFF2-40B4-BE49-F238E27FC236}">
                <a16:creationId xmlns:a16="http://schemas.microsoft.com/office/drawing/2014/main" id="{B652634D-18AA-4BAA-9633-3FFFE841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00300"/>
            <a:ext cx="3676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A">
              <a:alpha val="80000"/>
            </a:srgbClr>
          </a:solidFill>
          <a:ln xmlns:a="http://schemas.openxmlformats.org/drawingml/2006/main" w="9525">
            <a:solidFill>
              <a:srgbClr val="DED6CB"/>
            </a:solidFill>
            <a:prstDash val="solid"/>
          </a:ln>
        </p:spPr>
      </p:sp>
      <p:sp>
        <p:nvSpPr>
          <p:cNvPr id="14" name="feedback-placeholder">
            <a:extLst xmlns:a="http://schemas.openxmlformats.org/drawingml/2006/main">
              <a:ext uri="{FF2B5EF4-FFF2-40B4-BE49-F238E27FC236}">
                <a16:creationId xmlns:a16="http://schemas.microsoft.com/office/drawing/2014/main" id="{31F3F1F9-3F4E-4D2B-AD8E-CFE7432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47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A quick read in one or two sentences...</a:t>
            </a:r>
          </a:p>
        </p:txBody>
      </p:sp>
      <p:sp>
        <p:nvSpPr>
          <p:cNvPr id="15" name="feedback-submit">
            <a:extLst xmlns:a="http://schemas.openxmlformats.org/drawingml/2006/main">
              <a:ext uri="{FF2B5EF4-FFF2-40B4-BE49-F238E27FC236}">
                <a16:creationId xmlns:a16="http://schemas.microsoft.com/office/drawing/2014/main" id="{58C5AF3D-39E1-4920-8623-53E4016D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16383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432E"/>
          </a:solidFill>
          <a:ln xmlns:a="http://schemas.openxmlformats.org/drawingml/2006/main" w="9525">
            <a:solidFill>
              <a:srgbClr val="C8432E"/>
            </a:solidFill>
            <a:prstDash val="solid"/>
          </a:ln>
        </p:spPr>
      </p:sp>
      <p:sp>
        <p:nvSpPr>
          <p:cNvPr id="16" name="feedback-submit-label">
            <a:extLst xmlns:a="http://schemas.openxmlformats.org/drawingml/2006/main">
              <a:ext uri="{FF2B5EF4-FFF2-40B4-BE49-F238E27FC236}">
                <a16:creationId xmlns:a16="http://schemas.microsoft.com/office/drawing/2014/main" id="{04B82F8B-8609-40A6-BDF8-2882266E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9575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Send a quick read</a:t>
            </a:r>
          </a:p>
        </p:txBody>
      </p:sp>
      <p:sp>
        <p:nvSpPr>
          <p:cNvPr id="17" name="feedback-helper">
            <a:extLst xmlns:a="http://schemas.openxmlformats.org/drawingml/2006/main">
              <a:ext uri="{FF2B5EF4-FFF2-40B4-BE49-F238E27FC236}">
                <a16:creationId xmlns:a16="http://schemas.microsoft.com/office/drawing/2014/main" id="{AB6AA3CA-F4CC-4A31-B6E5-8F4DE973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Which part feels most useful, least relevant, or what kind of team would know how to use this work well?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DD51353-C610-4DFC-AF51-56466990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04CBA3E-4A8A-4A10-99CB-B5860059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436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Homepage · Conversation</a:t>
            </a:r>
          </a:p>
        </p:txBody>
      </p:sp>
    </p:spTree>
    <p:extLst>
      <p:ext uri="{BB962C8B-B14F-4D97-AF65-F5344CB8AC3E}">
        <p14:creationId xmlns:p14="http://schemas.microsoft.com/office/powerpoint/2010/main" val="212947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2026-06-30T14:21:30.9430000Z</dcterms:created>
  <dcterms:modified xsi:type="dcterms:W3CDTF">2026-06-30T14:21:30.9430000Z</dcterms:modified>
</coreProperties>
</file>