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208" y="-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hero-bg">
            <a:extLst>
              <a:ext uri="{FF2B5EF4-FFF2-40B4-BE49-F238E27FC236}">
                <a16:creationId xmlns:a16="http://schemas.microsoft.com/office/drawing/2014/main" id="{94917989-A8A6-47A8-80F1-B83508D86B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CFAF7"/>
          </a:solidFill>
          <a:ln w="0">
            <a:noFill/>
            <a:prstDash val="solid"/>
          </a:ln>
        </p:spPr>
      </p:sp>
      <p:sp>
        <p:nvSpPr>
          <p:cNvPr id="2" name="kicker">
            <a:extLst>
              <a:ext uri="{FF2B5EF4-FFF2-40B4-BE49-F238E27FC236}">
                <a16:creationId xmlns:a16="http://schemas.microsoft.com/office/drawing/2014/main" id="{CB78211A-C138-400E-9AAF-671CC16562AA}"/>
              </a:ext>
            </a:extLst>
          </p:cNvPr>
          <p:cNvSpPr>
            <a:spLocks noGrp="1"/>
          </p:cNvSpPr>
          <p:nvPr/>
        </p:nvSpPr>
        <p:spPr>
          <a:xfrm>
            <a:off x="609600" y="70485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LIVE GTM PIPELINE CONTEXT</a:t>
            </a:r>
          </a:p>
        </p:txBody>
      </p:sp>
      <p:sp>
        <p:nvSpPr>
          <p:cNvPr id="3" name="hero-title">
            <a:extLst>
              <a:ext uri="{FF2B5EF4-FFF2-40B4-BE49-F238E27FC236}">
                <a16:creationId xmlns:a16="http://schemas.microsoft.com/office/drawing/2014/main" id="{C945F775-72EF-4F03-BDC1-037FD0BBCA10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54292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900" b="1">
                <a:solidFill>
                  <a:srgbClr val="12110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2110F"/>
                </a:solidFill>
                <a:latin typeface="Aptos"/>
                <a:ea typeface="Aptos"/>
                <a:cs typeface="Aptos"/>
              </a:rPr>
              <a:t>Candidate Go-to-Market Pipeline</a:t>
            </a:r>
          </a:p>
        </p:txBody>
      </p:sp>
      <p:sp>
        <p:nvSpPr>
          <p:cNvPr id="4" name="hero-lead">
            <a:extLst>
              <a:ext uri="{FF2B5EF4-FFF2-40B4-BE49-F238E27FC236}">
                <a16:creationId xmlns:a16="http://schemas.microsoft.com/office/drawing/2014/main" id="{951ABA2C-54F8-4E7F-9543-12D2373EABD0}"/>
              </a:ext>
            </a:extLst>
          </p:cNvPr>
          <p:cNvSpPr>
            <a:spLocks noGrp="1"/>
          </p:cNvSpPr>
          <p:nvPr/>
        </p:nvSpPr>
        <p:spPr>
          <a:xfrm>
            <a:off x="609600" y="2533650"/>
            <a:ext cx="5619750" cy="1009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0">
                <a:solidFill>
                  <a:srgbClr val="4A423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4A4235"/>
                </a:solidFill>
                <a:latin typeface="Aptos"/>
                <a:ea typeface="Aptos"/>
                <a:cs typeface="Aptos"/>
              </a:rPr>
              <a:t>I use a Candidate Go-to-Market system to turn market signals, role context, and real conversations into clearer fit decisions, role-relevant proof, and context-aware follow-up.</a:t>
            </a:r>
          </a:p>
        </p:txBody>
      </p:sp>
      <p:sp>
        <p:nvSpPr>
          <p:cNvPr id="5" name="hero-learning">
            <a:extLst>
              <a:ext uri="{FF2B5EF4-FFF2-40B4-BE49-F238E27FC236}">
                <a16:creationId xmlns:a16="http://schemas.microsoft.com/office/drawing/2014/main" id="{A0F47CC6-BB15-4846-BDB5-27C4ED68FB6E}"/>
              </a:ext>
            </a:extLst>
          </p:cNvPr>
          <p:cNvSpPr>
            <a:spLocks noGrp="1"/>
          </p:cNvSpPr>
          <p:nvPr/>
        </p:nvSpPr>
        <p:spPr>
          <a:xfrm>
            <a:off x="609600" y="3648075"/>
            <a:ext cx="533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Each cycle sharpens the evidence and shows me what to learn next from the market.</a:t>
            </a:r>
          </a:p>
        </p:txBody>
      </p:sp>
      <p:sp>
        <p:nvSpPr>
          <p:cNvPr id="6" name="proof-20K+">
            <a:extLst>
              <a:ext uri="{FF2B5EF4-FFF2-40B4-BE49-F238E27FC236}">
                <a16:creationId xmlns:a16="http://schemas.microsoft.com/office/drawing/2014/main" id="{D23B3A48-AF3E-4F5B-8E82-2F0B2BB577EE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1657350" cy="914400"/>
          </a:xfrm>
          <a:prstGeom prst="roundRect">
            <a:avLst>
              <a:gd name="adj" fmla="val 8333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EBE5DA"/>
            </a:solidFill>
            <a:prstDash val="solid"/>
          </a:ln>
        </p:spPr>
      </p:sp>
      <p:sp>
        <p:nvSpPr>
          <p:cNvPr id="7" name="proof-20K+-value">
            <a:extLst>
              <a:ext uri="{FF2B5EF4-FFF2-40B4-BE49-F238E27FC236}">
                <a16:creationId xmlns:a16="http://schemas.microsoft.com/office/drawing/2014/main" id="{8E1B61DD-E987-42B4-85C1-867BE1DB3A14}"/>
              </a:ext>
            </a:extLst>
          </p:cNvPr>
          <p:cNvSpPr>
            <a:spLocks noGrp="1"/>
          </p:cNvSpPr>
          <p:nvPr/>
        </p:nvSpPr>
        <p:spPr>
          <a:xfrm>
            <a:off x="762000" y="462915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20K+</a:t>
            </a:r>
          </a:p>
        </p:txBody>
      </p:sp>
      <p:sp>
        <p:nvSpPr>
          <p:cNvPr id="8" name="proof-20K+-label">
            <a:extLst>
              <a:ext uri="{FF2B5EF4-FFF2-40B4-BE49-F238E27FC236}">
                <a16:creationId xmlns:a16="http://schemas.microsoft.com/office/drawing/2014/main" id="{81CE2B40-8DD5-4402-9D1B-BE906ECF9FC8}"/>
              </a:ext>
            </a:extLst>
          </p:cNvPr>
          <p:cNvSpPr>
            <a:spLocks noGrp="1"/>
          </p:cNvSpPr>
          <p:nvPr/>
        </p:nvSpPr>
        <p:spPr>
          <a:xfrm>
            <a:off x="762000" y="4972050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job-market signals screened with review rules</a:t>
            </a:r>
          </a:p>
        </p:txBody>
      </p:sp>
      <p:sp>
        <p:nvSpPr>
          <p:cNvPr id="9" name="proof-6">
            <a:extLst>
              <a:ext uri="{FF2B5EF4-FFF2-40B4-BE49-F238E27FC236}">
                <a16:creationId xmlns:a16="http://schemas.microsoft.com/office/drawing/2014/main" id="{902E18A0-170B-4CF0-B0C8-066DC7665272}"/>
              </a:ext>
            </a:extLst>
          </p:cNvPr>
          <p:cNvSpPr>
            <a:spLocks noGrp="1"/>
          </p:cNvSpPr>
          <p:nvPr/>
        </p:nvSpPr>
        <p:spPr>
          <a:xfrm>
            <a:off x="2419350" y="4476750"/>
            <a:ext cx="1657350" cy="914400"/>
          </a:xfrm>
          <a:prstGeom prst="roundRect">
            <a:avLst>
              <a:gd name="adj" fmla="val 8333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EBE5DA"/>
            </a:solidFill>
            <a:prstDash val="solid"/>
          </a:ln>
        </p:spPr>
      </p:sp>
      <p:sp>
        <p:nvSpPr>
          <p:cNvPr id="10" name="proof-6-value">
            <a:extLst>
              <a:ext uri="{FF2B5EF4-FFF2-40B4-BE49-F238E27FC236}">
                <a16:creationId xmlns:a16="http://schemas.microsoft.com/office/drawing/2014/main" id="{E86FBDE3-A8DA-49AE-8133-86E706F60027}"/>
              </a:ext>
            </a:extLst>
          </p:cNvPr>
          <p:cNvSpPr>
            <a:spLocks noGrp="1"/>
          </p:cNvSpPr>
          <p:nvPr/>
        </p:nvSpPr>
        <p:spPr>
          <a:xfrm>
            <a:off x="2571750" y="462915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1" name="proof-6-label">
            <a:extLst>
              <a:ext uri="{FF2B5EF4-FFF2-40B4-BE49-F238E27FC236}">
                <a16:creationId xmlns:a16="http://schemas.microsoft.com/office/drawing/2014/main" id="{5B611283-601E-428B-9983-5AF7AE5026BA}"/>
              </a:ext>
            </a:extLst>
          </p:cNvPr>
          <p:cNvSpPr>
            <a:spLocks noGrp="1"/>
          </p:cNvSpPr>
          <p:nvPr/>
        </p:nvSpPr>
        <p:spPr>
          <a:xfrm>
            <a:off x="2571750" y="4972050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repeatable gates from signal to proof and follow-up</a:t>
            </a:r>
          </a:p>
        </p:txBody>
      </p:sp>
      <p:sp>
        <p:nvSpPr>
          <p:cNvPr id="12" name="proof-1">
            <a:extLst>
              <a:ext uri="{FF2B5EF4-FFF2-40B4-BE49-F238E27FC236}">
                <a16:creationId xmlns:a16="http://schemas.microsoft.com/office/drawing/2014/main" id="{1E963D99-3317-4DD9-B58E-2975DD88C64B}"/>
              </a:ext>
            </a:extLst>
          </p:cNvPr>
          <p:cNvSpPr>
            <a:spLocks noGrp="1"/>
          </p:cNvSpPr>
          <p:nvPr/>
        </p:nvSpPr>
        <p:spPr>
          <a:xfrm>
            <a:off x="4229100" y="4476750"/>
            <a:ext cx="1657350" cy="914400"/>
          </a:xfrm>
          <a:prstGeom prst="roundRect">
            <a:avLst>
              <a:gd name="adj" fmla="val 8333"/>
            </a:avLst>
          </a:prstGeom>
          <a:solidFill>
            <a:srgbClr val="FFFFFF">
              <a:alpha val="80000"/>
            </a:srgbClr>
          </a:solidFill>
          <a:ln w="9525">
            <a:solidFill>
              <a:srgbClr val="EBE5DA"/>
            </a:solidFill>
            <a:prstDash val="solid"/>
          </a:ln>
        </p:spPr>
      </p:sp>
      <p:sp>
        <p:nvSpPr>
          <p:cNvPr id="13" name="proof-1-value">
            <a:extLst>
              <a:ext uri="{FF2B5EF4-FFF2-40B4-BE49-F238E27FC236}">
                <a16:creationId xmlns:a16="http://schemas.microsoft.com/office/drawing/2014/main" id="{6DBA01ED-6732-4BE5-A96B-205965C55C6D}"/>
              </a:ext>
            </a:extLst>
          </p:cNvPr>
          <p:cNvSpPr>
            <a:spLocks noGrp="1"/>
          </p:cNvSpPr>
          <p:nvPr/>
        </p:nvSpPr>
        <p:spPr>
          <a:xfrm>
            <a:off x="4381500" y="462915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proof-1-label">
            <a:extLst>
              <a:ext uri="{FF2B5EF4-FFF2-40B4-BE49-F238E27FC236}">
                <a16:creationId xmlns:a16="http://schemas.microsoft.com/office/drawing/2014/main" id="{10EAA269-D0DE-4E66-9F54-735531BE8BFC}"/>
              </a:ext>
            </a:extLst>
          </p:cNvPr>
          <p:cNvSpPr>
            <a:spLocks noGrp="1"/>
          </p:cNvSpPr>
          <p:nvPr/>
        </p:nvSpPr>
        <p:spPr>
          <a:xfrm>
            <a:off x="4381500" y="4972050"/>
            <a:ext cx="1352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loop connecting market feedback, proof, and learning</a:t>
            </a:r>
          </a:p>
        </p:txBody>
      </p:sp>
      <p:sp>
        <p:nvSpPr>
          <p:cNvPr id="15" name="system-map-frame">
            <a:extLst>
              <a:ext uri="{FF2B5EF4-FFF2-40B4-BE49-F238E27FC236}">
                <a16:creationId xmlns:a16="http://schemas.microsoft.com/office/drawing/2014/main" id="{218B1B4D-2C07-4DEE-BF9A-B377B47AFF19}"/>
              </a:ext>
            </a:extLst>
          </p:cNvPr>
          <p:cNvSpPr>
            <a:spLocks noGrp="1"/>
          </p:cNvSpPr>
          <p:nvPr/>
        </p:nvSpPr>
        <p:spPr>
          <a:xfrm>
            <a:off x="6858000" y="857250"/>
            <a:ext cx="4476750" cy="4476750"/>
          </a:xfrm>
          <a:prstGeom prst="roundRect">
            <a:avLst>
              <a:gd name="adj" fmla="val 1702"/>
            </a:avLst>
          </a:prstGeom>
          <a:solidFill>
            <a:srgbClr val="FFFFFF">
              <a:alpha val="86667"/>
            </a:srgbClr>
          </a:solidFill>
          <a:ln w="9525">
            <a:solidFill>
              <a:srgbClr val="D9D1C5"/>
            </a:solidFill>
            <a:prstDash val="solid"/>
          </a:ln>
        </p:spPr>
      </p:sp>
      <p:sp>
        <p:nvSpPr>
          <p:cNvPr id="16" name="system-map-title">
            <a:extLst>
              <a:ext uri="{FF2B5EF4-FFF2-40B4-BE49-F238E27FC236}">
                <a16:creationId xmlns:a16="http://schemas.microsoft.com/office/drawing/2014/main" id="{AB564E5B-05AC-470D-AC0C-D4859702E2AC}"/>
              </a:ext>
            </a:extLst>
          </p:cNvPr>
          <p:cNvSpPr>
            <a:spLocks noGrp="1"/>
          </p:cNvSpPr>
          <p:nvPr/>
        </p:nvSpPr>
        <p:spPr>
          <a:xfrm>
            <a:off x="7124700" y="1085850"/>
            <a:ext cx="3943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1211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2110F"/>
                </a:solidFill>
                <a:latin typeface="Aptos"/>
                <a:ea typeface="Aptos"/>
                <a:cs typeface="Aptos"/>
              </a:rPr>
              <a:t>Signal flow map</a:t>
            </a:r>
          </a:p>
        </p:txBody>
      </p:sp>
      <p:sp>
        <p:nvSpPr>
          <p:cNvPr id="17" name="map-chip-1">
            <a:extLst>
              <a:ext uri="{FF2B5EF4-FFF2-40B4-BE49-F238E27FC236}">
                <a16:creationId xmlns:a16="http://schemas.microsoft.com/office/drawing/2014/main" id="{E77EE111-FE29-4C93-8BF2-81A82839668B}"/>
              </a:ext>
            </a:extLst>
          </p:cNvPr>
          <p:cNvSpPr>
            <a:spLocks noGrp="1"/>
          </p:cNvSpPr>
          <p:nvPr/>
        </p:nvSpPr>
        <p:spPr>
          <a:xfrm>
            <a:off x="7124700" y="1600200"/>
            <a:ext cx="1485900" cy="323850"/>
          </a:xfrm>
          <a:prstGeom prst="roundRect">
            <a:avLst>
              <a:gd name="adj" fmla="val 17647"/>
            </a:avLst>
          </a:prstGeom>
          <a:solidFill>
            <a:srgbClr val="FFF8F4"/>
          </a:solidFill>
          <a:ln w="9525">
            <a:solidFill>
              <a:srgbClr val="EAD9CE"/>
            </a:solidFill>
            <a:prstDash val="solid"/>
          </a:ln>
        </p:spPr>
      </p:sp>
      <p:sp>
        <p:nvSpPr>
          <p:cNvPr id="18" name="map-chip-label-1">
            <a:extLst>
              <a:ext uri="{FF2B5EF4-FFF2-40B4-BE49-F238E27FC236}">
                <a16:creationId xmlns:a16="http://schemas.microsoft.com/office/drawing/2014/main" id="{0B8348A6-F4D5-40B0-8468-DA0BA1F15A4E}"/>
              </a:ext>
            </a:extLst>
          </p:cNvPr>
          <p:cNvSpPr>
            <a:spLocks noGrp="1"/>
          </p:cNvSpPr>
          <p:nvPr/>
        </p:nvSpPr>
        <p:spPr>
          <a:xfrm>
            <a:off x="7229475" y="167640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Job signals</a:t>
            </a:r>
          </a:p>
        </p:txBody>
      </p:sp>
      <p:sp>
        <p:nvSpPr>
          <p:cNvPr id="19" name="map-chip-2">
            <a:extLst>
              <a:ext uri="{FF2B5EF4-FFF2-40B4-BE49-F238E27FC236}">
                <a16:creationId xmlns:a16="http://schemas.microsoft.com/office/drawing/2014/main" id="{74936D71-9CD8-4D77-BC9D-EF87EAD1EC18}"/>
              </a:ext>
            </a:extLst>
          </p:cNvPr>
          <p:cNvSpPr>
            <a:spLocks noGrp="1"/>
          </p:cNvSpPr>
          <p:nvPr/>
        </p:nvSpPr>
        <p:spPr>
          <a:xfrm>
            <a:off x="8839200" y="1600200"/>
            <a:ext cx="1485900" cy="323850"/>
          </a:xfrm>
          <a:prstGeom prst="roundRect">
            <a:avLst>
              <a:gd name="adj" fmla="val 17647"/>
            </a:avLst>
          </a:prstGeom>
          <a:solidFill>
            <a:srgbClr val="FFF8F4"/>
          </a:solidFill>
          <a:ln w="9525">
            <a:solidFill>
              <a:srgbClr val="EAD9CE"/>
            </a:solidFill>
            <a:prstDash val="solid"/>
          </a:ln>
        </p:spPr>
      </p:sp>
      <p:sp>
        <p:nvSpPr>
          <p:cNvPr id="20" name="map-chip-label-2">
            <a:extLst>
              <a:ext uri="{FF2B5EF4-FFF2-40B4-BE49-F238E27FC236}">
                <a16:creationId xmlns:a16="http://schemas.microsoft.com/office/drawing/2014/main" id="{04929B38-2DB1-41BC-9F22-C1A356439B0B}"/>
              </a:ext>
            </a:extLst>
          </p:cNvPr>
          <p:cNvSpPr>
            <a:spLocks noGrp="1"/>
          </p:cNvSpPr>
          <p:nvPr/>
        </p:nvSpPr>
        <p:spPr>
          <a:xfrm>
            <a:off x="8943975" y="167640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Role context</a:t>
            </a:r>
          </a:p>
        </p:txBody>
      </p:sp>
      <p:sp>
        <p:nvSpPr>
          <p:cNvPr id="21" name="map-chip-3">
            <a:extLst>
              <a:ext uri="{FF2B5EF4-FFF2-40B4-BE49-F238E27FC236}">
                <a16:creationId xmlns:a16="http://schemas.microsoft.com/office/drawing/2014/main" id="{2741E208-EE38-4B3A-9C66-4D912F190DE1}"/>
              </a:ext>
            </a:extLst>
          </p:cNvPr>
          <p:cNvSpPr>
            <a:spLocks noGrp="1"/>
          </p:cNvSpPr>
          <p:nvPr/>
        </p:nvSpPr>
        <p:spPr>
          <a:xfrm>
            <a:off x="7124700" y="2095500"/>
            <a:ext cx="1485900" cy="323850"/>
          </a:xfrm>
          <a:prstGeom prst="roundRect">
            <a:avLst>
              <a:gd name="adj" fmla="val 17647"/>
            </a:avLst>
          </a:prstGeom>
          <a:solidFill>
            <a:srgbClr val="FFF8F4"/>
          </a:solidFill>
          <a:ln w="9525">
            <a:solidFill>
              <a:srgbClr val="EAD9CE"/>
            </a:solidFill>
            <a:prstDash val="solid"/>
          </a:ln>
        </p:spPr>
      </p:sp>
      <p:sp>
        <p:nvSpPr>
          <p:cNvPr id="22" name="map-chip-label-3">
            <a:extLst>
              <a:ext uri="{FF2B5EF4-FFF2-40B4-BE49-F238E27FC236}">
                <a16:creationId xmlns:a16="http://schemas.microsoft.com/office/drawing/2014/main" id="{7C7FEBA0-AAA7-4093-BE53-47D0DEB36CAB}"/>
              </a:ext>
            </a:extLst>
          </p:cNvPr>
          <p:cNvSpPr>
            <a:spLocks noGrp="1"/>
          </p:cNvSpPr>
          <p:nvPr/>
        </p:nvSpPr>
        <p:spPr>
          <a:xfrm>
            <a:off x="7229475" y="217170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3" name="map-chip-4">
            <a:extLst>
              <a:ext uri="{FF2B5EF4-FFF2-40B4-BE49-F238E27FC236}">
                <a16:creationId xmlns:a16="http://schemas.microsoft.com/office/drawing/2014/main" id="{A9B0FFD2-2243-4DE6-9DA0-6D64CF8C8D11}"/>
              </a:ext>
            </a:extLst>
          </p:cNvPr>
          <p:cNvSpPr>
            <a:spLocks noGrp="1"/>
          </p:cNvSpPr>
          <p:nvPr/>
        </p:nvSpPr>
        <p:spPr>
          <a:xfrm>
            <a:off x="8839200" y="2095500"/>
            <a:ext cx="1485900" cy="323850"/>
          </a:xfrm>
          <a:prstGeom prst="roundRect">
            <a:avLst>
              <a:gd name="adj" fmla="val 17647"/>
            </a:avLst>
          </a:prstGeom>
          <a:solidFill>
            <a:srgbClr val="FFF8F4"/>
          </a:solidFill>
          <a:ln w="9525">
            <a:solidFill>
              <a:srgbClr val="EAD9CE"/>
            </a:solidFill>
            <a:prstDash val="solid"/>
          </a:ln>
        </p:spPr>
      </p:sp>
      <p:sp>
        <p:nvSpPr>
          <p:cNvPr id="24" name="map-chip-label-4">
            <a:extLst>
              <a:ext uri="{FF2B5EF4-FFF2-40B4-BE49-F238E27FC236}">
                <a16:creationId xmlns:a16="http://schemas.microsoft.com/office/drawing/2014/main" id="{1ED4859B-5012-4DB9-AAE9-D4C9B3F3569E}"/>
              </a:ext>
            </a:extLst>
          </p:cNvPr>
          <p:cNvSpPr>
            <a:spLocks noGrp="1"/>
          </p:cNvSpPr>
          <p:nvPr/>
        </p:nvSpPr>
        <p:spPr>
          <a:xfrm>
            <a:off x="8943975" y="217170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Human review</a:t>
            </a:r>
          </a:p>
        </p:txBody>
      </p:sp>
      <p:sp>
        <p:nvSpPr>
          <p:cNvPr id="25" name="map-chip-5">
            <a:extLst>
              <a:ext uri="{FF2B5EF4-FFF2-40B4-BE49-F238E27FC236}">
                <a16:creationId xmlns:a16="http://schemas.microsoft.com/office/drawing/2014/main" id="{EC73BDED-2EF5-4AA9-98B0-308DF804750F}"/>
              </a:ext>
            </a:extLst>
          </p:cNvPr>
          <p:cNvSpPr>
            <a:spLocks noGrp="1"/>
          </p:cNvSpPr>
          <p:nvPr/>
        </p:nvSpPr>
        <p:spPr>
          <a:xfrm>
            <a:off x="7124700" y="2590800"/>
            <a:ext cx="1485900" cy="323850"/>
          </a:xfrm>
          <a:prstGeom prst="roundRect">
            <a:avLst>
              <a:gd name="adj" fmla="val 17647"/>
            </a:avLst>
          </a:prstGeom>
          <a:solidFill>
            <a:srgbClr val="FFF8F4"/>
          </a:solidFill>
          <a:ln w="9525">
            <a:solidFill>
              <a:srgbClr val="EAD9CE"/>
            </a:solidFill>
            <a:prstDash val="solid"/>
          </a:ln>
        </p:spPr>
      </p:sp>
      <p:sp>
        <p:nvSpPr>
          <p:cNvPr id="26" name="map-chip-label-5">
            <a:extLst>
              <a:ext uri="{FF2B5EF4-FFF2-40B4-BE49-F238E27FC236}">
                <a16:creationId xmlns:a16="http://schemas.microsoft.com/office/drawing/2014/main" id="{8B42152E-B91B-4903-AC6C-9D8199C4C28E}"/>
              </a:ext>
            </a:extLst>
          </p:cNvPr>
          <p:cNvSpPr>
            <a:spLocks noGrp="1"/>
          </p:cNvSpPr>
          <p:nvPr/>
        </p:nvSpPr>
        <p:spPr>
          <a:xfrm>
            <a:off x="7229475" y="2667000"/>
            <a:ext cx="1276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Write-back</a:t>
            </a:r>
          </a:p>
        </p:txBody>
      </p:sp>
      <p:sp>
        <p:nvSpPr>
          <p:cNvPr id="27" name="map-engine">
            <a:extLst>
              <a:ext uri="{FF2B5EF4-FFF2-40B4-BE49-F238E27FC236}">
                <a16:creationId xmlns:a16="http://schemas.microsoft.com/office/drawing/2014/main" id="{489D03F2-9CC6-4C80-B7F3-C2466713A73A}"/>
              </a:ext>
            </a:extLst>
          </p:cNvPr>
          <p:cNvSpPr>
            <a:spLocks noGrp="1"/>
          </p:cNvSpPr>
          <p:nvPr/>
        </p:nvSpPr>
        <p:spPr>
          <a:xfrm>
            <a:off x="7677150" y="3238500"/>
            <a:ext cx="2838450" cy="876300"/>
          </a:xfrm>
          <a:prstGeom prst="roundRect">
            <a:avLst>
              <a:gd name="adj" fmla="val 8696"/>
            </a:avLst>
          </a:prstGeom>
          <a:solidFill>
            <a:srgbClr val="2F0508"/>
          </a:solidFill>
          <a:ln w="9525">
            <a:solidFill>
              <a:srgbClr val="2F0508"/>
            </a:solidFill>
            <a:prstDash val="solid"/>
          </a:ln>
        </p:spPr>
      </p:sp>
      <p:sp>
        <p:nvSpPr>
          <p:cNvPr id="28" name="map-engine-text">
            <a:extLst>
              <a:ext uri="{FF2B5EF4-FFF2-40B4-BE49-F238E27FC236}">
                <a16:creationId xmlns:a16="http://schemas.microsoft.com/office/drawing/2014/main" id="{DCC6DB7A-C25A-4DC4-81F9-09CD4B7851F6}"/>
              </a:ext>
            </a:extLst>
          </p:cNvPr>
          <p:cNvSpPr>
            <a:spLocks noGrp="1"/>
          </p:cNvSpPr>
          <p:nvPr/>
        </p:nvSpPr>
        <p:spPr>
          <a:xfrm>
            <a:off x="7943850" y="3467100"/>
            <a:ext cx="2305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FCFA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CFAF7"/>
                </a:solidFill>
                <a:latin typeface="Aptos"/>
                <a:ea typeface="Aptos"/>
                <a:cs typeface="Aptos"/>
              </a:rPr>
              <a:t>Review gates turn raw context into next-step judgment</a:t>
            </a:r>
          </a:p>
        </p:txBody>
      </p:sp>
      <p:sp>
        <p:nvSpPr>
          <p:cNvPr id="29" name="footer-left">
            <a:extLst>
              <a:ext uri="{FF2B5EF4-FFF2-40B4-BE49-F238E27FC236}">
                <a16:creationId xmlns:a16="http://schemas.microsoft.com/office/drawing/2014/main" id="{ECEBB722-3860-4DC8-B418-A70E8E9F28D8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Johanna Fan · Marketing / GTM / Customer Signal Analytics</a:t>
            </a:r>
          </a:p>
        </p:txBody>
      </p:sp>
      <p:sp>
        <p:nvSpPr>
          <p:cNvPr id="30" name="footer-right">
            <a:extLst>
              <a:ext uri="{FF2B5EF4-FFF2-40B4-BE49-F238E27FC236}">
                <a16:creationId xmlns:a16="http://schemas.microsoft.com/office/drawing/2014/main" id="{25135F19-89BC-4A7A-9A5D-2C17B58E2901}"/>
              </a:ext>
            </a:extLst>
          </p:cNvPr>
          <p:cNvSpPr>
            <a:spLocks noGrp="1"/>
          </p:cNvSpPr>
          <p:nvPr/>
        </p:nvSpPr>
        <p:spPr>
          <a:xfrm>
            <a:off x="7905750" y="6343650"/>
            <a:ext cx="3676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Homepage · Hero</a:t>
            </a:r>
          </a:p>
        </p:txBody>
      </p:sp>
    </p:spTree>
    <p:extLst>
      <p:ext uri="{BB962C8B-B14F-4D97-AF65-F5344CB8AC3E}">
        <p14:creationId xmlns:p14="http://schemas.microsoft.com/office/powerpoint/2010/main" val="1496981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05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kicker">
            <a:extLst>
              <a:ext uri="{FF2B5EF4-FFF2-40B4-BE49-F238E27FC236}">
                <a16:creationId xmlns:a16="http://schemas.microsoft.com/office/drawing/2014/main" id="{CD57074E-91C2-425F-96D7-FBB7E0577712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F0997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0997B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2" name="workflow-title">
            <a:extLst>
              <a:ext uri="{FF2B5EF4-FFF2-40B4-BE49-F238E27FC236}">
                <a16:creationId xmlns:a16="http://schemas.microsoft.com/office/drawing/2014/main" id="{FC46F8B4-78C6-47D4-BA62-95103C2C54B6}"/>
              </a:ext>
            </a:extLst>
          </p:cNvPr>
          <p:cNvSpPr>
            <a:spLocks noGrp="1"/>
          </p:cNvSpPr>
          <p:nvPr/>
        </p:nvSpPr>
        <p:spPr>
          <a:xfrm>
            <a:off x="609600" y="1028700"/>
            <a:ext cx="6191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FCFAF7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CFAF7"/>
                </a:solidFill>
                <a:latin typeface="Aptos"/>
                <a:ea typeface="Aptos"/>
                <a:cs typeface="Aptos"/>
              </a:rPr>
              <a:t>Quality over quantity.</a:t>
            </a:r>
          </a:p>
        </p:txBody>
      </p:sp>
      <p:sp>
        <p:nvSpPr>
          <p:cNvPr id="3" name="workflow-lead">
            <a:extLst>
              <a:ext uri="{FF2B5EF4-FFF2-40B4-BE49-F238E27FC236}">
                <a16:creationId xmlns:a16="http://schemas.microsoft.com/office/drawing/2014/main" id="{933B6D4F-5300-4551-A205-7F8E28D36E29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7620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F4D7C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4D7CD"/>
                </a:solidFill>
                <a:latin typeface="Aptos"/>
                <a:ea typeface="Aptos"/>
                <a:cs typeface="Aptos"/>
              </a:rPr>
              <a:t>A high-quality application is not just a submission. It is selected with care, tailored to the role, backed by proof, sent through a credible path, and reviewed for what should change next.</a:t>
            </a:r>
          </a:p>
        </p:txBody>
      </p:sp>
      <p:sp>
        <p:nvSpPr>
          <p:cNvPr id="4" name="workflow-roadmap-label">
            <a:extLst>
              <a:ext uri="{FF2B5EF4-FFF2-40B4-BE49-F238E27FC236}">
                <a16:creationId xmlns:a16="http://schemas.microsoft.com/office/drawing/2014/main" id="{7205C886-ABEF-4033-89EC-FE4EE17A3815}"/>
              </a:ext>
            </a:extLst>
          </p:cNvPr>
          <p:cNvSpPr>
            <a:spLocks noGrp="1"/>
          </p:cNvSpPr>
          <p:nvPr/>
        </p:nvSpPr>
        <p:spPr>
          <a:xfrm>
            <a:off x="609600" y="28765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F0997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0997B"/>
                </a:solidFill>
                <a:latin typeface="Aptos"/>
                <a:ea typeface="Aptos"/>
                <a:cs typeface="Aptos"/>
              </a:rPr>
              <a:t>Roadmap for each application</a:t>
            </a:r>
          </a:p>
        </p:txBody>
      </p:sp>
      <p:sp>
        <p:nvSpPr>
          <p:cNvPr id="5" name="step-icon-1">
            <a:extLst>
              <a:ext uri="{FF2B5EF4-FFF2-40B4-BE49-F238E27FC236}">
                <a16:creationId xmlns:a16="http://schemas.microsoft.com/office/drawing/2014/main" id="{4DA5B3CA-69B1-44E7-922A-603CADB1BDF4}"/>
              </a:ext>
            </a:extLst>
          </p:cNvPr>
          <p:cNvSpPr>
            <a:spLocks noGrp="1"/>
          </p:cNvSpPr>
          <p:nvPr/>
        </p:nvSpPr>
        <p:spPr>
          <a:xfrm>
            <a:off x="742950" y="3057525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4A1516"/>
          </a:solidFill>
          <a:ln w="9525">
            <a:solidFill>
              <a:srgbClr val="9F544A"/>
            </a:solidFill>
            <a:prstDash val="solid"/>
          </a:ln>
        </p:spPr>
      </p:sp>
      <p:sp>
        <p:nvSpPr>
          <p:cNvPr id="6" name="step-number-1">
            <a:extLst>
              <a:ext uri="{FF2B5EF4-FFF2-40B4-BE49-F238E27FC236}">
                <a16:creationId xmlns:a16="http://schemas.microsoft.com/office/drawing/2014/main" id="{0343DF99-C690-4C52-8ACB-F4D4F5614D51}"/>
              </a:ext>
            </a:extLst>
          </p:cNvPr>
          <p:cNvSpPr>
            <a:spLocks noGrp="1"/>
          </p:cNvSpPr>
          <p:nvPr/>
        </p:nvSpPr>
        <p:spPr>
          <a:xfrm>
            <a:off x="762000" y="317182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099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99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step-title-1">
            <a:extLst>
              <a:ext uri="{FF2B5EF4-FFF2-40B4-BE49-F238E27FC236}">
                <a16:creationId xmlns:a16="http://schemas.microsoft.com/office/drawing/2014/main" id="{1FBD3B4B-7D25-49F7-A8BF-DA6DC202A498}"/>
              </a:ext>
            </a:extLst>
          </p:cNvPr>
          <p:cNvSpPr>
            <a:spLocks noGrp="1"/>
          </p:cNvSpPr>
          <p:nvPr/>
        </p:nvSpPr>
        <p:spPr>
          <a:xfrm>
            <a:off x="314325" y="35909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CFA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CFAF7"/>
                </a:solidFill>
                <a:latin typeface="Aptos"/>
                <a:ea typeface="Aptos"/>
                <a:cs typeface="Aptos"/>
              </a:rPr>
              <a:t>Find the right role</a:t>
            </a:r>
          </a:p>
        </p:txBody>
      </p:sp>
      <p:sp>
        <p:nvSpPr>
          <p:cNvPr id="8" name="step-dot-1">
            <a:extLst>
              <a:ext uri="{FF2B5EF4-FFF2-40B4-BE49-F238E27FC236}">
                <a16:creationId xmlns:a16="http://schemas.microsoft.com/office/drawing/2014/main" id="{69213A6B-984B-40AE-A707-5724F3839800}"/>
              </a:ext>
            </a:extLst>
          </p:cNvPr>
          <p:cNvSpPr>
            <a:spLocks noGrp="1"/>
          </p:cNvSpPr>
          <p:nvPr/>
        </p:nvSpPr>
        <p:spPr>
          <a:xfrm>
            <a:off x="809625" y="4600575"/>
            <a:ext cx="285750" cy="285750"/>
          </a:xfrm>
          <a:prstGeom prst="ellipse">
            <a:avLst/>
          </a:prstGeom>
          <a:solidFill>
            <a:srgbClr val="F0997B"/>
          </a:solidFill>
          <a:ln w="9525">
            <a:solidFill>
              <a:srgbClr val="F0997B"/>
            </a:solidFill>
            <a:prstDash val="solid"/>
          </a:ln>
        </p:spPr>
      </p:sp>
      <p:sp>
        <p:nvSpPr>
          <p:cNvPr id="9" name="step-line-1">
            <a:extLst>
              <a:ext uri="{FF2B5EF4-FFF2-40B4-BE49-F238E27FC236}">
                <a16:creationId xmlns:a16="http://schemas.microsoft.com/office/drawing/2014/main" id="{D82C086A-92F9-4DA1-9E0B-438C22A39326}"/>
              </a:ext>
            </a:extLst>
          </p:cNvPr>
          <p:cNvSpPr>
            <a:spLocks noGrp="1"/>
          </p:cNvSpPr>
          <p:nvPr/>
        </p:nvSpPr>
        <p:spPr>
          <a:xfrm>
            <a:off x="1143000" y="4733925"/>
            <a:ext cx="1476375" cy="38100"/>
          </a:xfrm>
          <a:prstGeom prst="rect">
            <a:avLst/>
          </a:prstGeom>
          <a:solidFill>
            <a:srgbClr val="9F544A"/>
          </a:solidFill>
          <a:ln w="0">
            <a:noFill/>
            <a:prstDash val="solid"/>
          </a:ln>
        </p:spPr>
      </p:sp>
      <p:sp>
        <p:nvSpPr>
          <p:cNvPr id="10" name="step-icon-2">
            <a:extLst>
              <a:ext uri="{FF2B5EF4-FFF2-40B4-BE49-F238E27FC236}">
                <a16:creationId xmlns:a16="http://schemas.microsoft.com/office/drawing/2014/main" id="{397577E0-C57D-4818-908D-813B73210F40}"/>
              </a:ext>
            </a:extLst>
          </p:cNvPr>
          <p:cNvSpPr>
            <a:spLocks noGrp="1"/>
          </p:cNvSpPr>
          <p:nvPr/>
        </p:nvSpPr>
        <p:spPr>
          <a:xfrm>
            <a:off x="2486025" y="3057525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4A1516"/>
          </a:solidFill>
          <a:ln w="9525">
            <a:solidFill>
              <a:srgbClr val="9F544A"/>
            </a:solidFill>
            <a:prstDash val="solid"/>
          </a:ln>
        </p:spPr>
      </p:sp>
      <p:sp>
        <p:nvSpPr>
          <p:cNvPr id="11" name="step-number-2">
            <a:extLst>
              <a:ext uri="{FF2B5EF4-FFF2-40B4-BE49-F238E27FC236}">
                <a16:creationId xmlns:a16="http://schemas.microsoft.com/office/drawing/2014/main" id="{D072EF2B-9E70-4427-9198-7752A7EB058D}"/>
              </a:ext>
            </a:extLst>
          </p:cNvPr>
          <p:cNvSpPr>
            <a:spLocks noGrp="1"/>
          </p:cNvSpPr>
          <p:nvPr/>
        </p:nvSpPr>
        <p:spPr>
          <a:xfrm>
            <a:off x="2505075" y="317182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099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99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step-title-2">
            <a:extLst>
              <a:ext uri="{FF2B5EF4-FFF2-40B4-BE49-F238E27FC236}">
                <a16:creationId xmlns:a16="http://schemas.microsoft.com/office/drawing/2014/main" id="{A9E901DA-2570-43AA-98F7-2EFA90978FAF}"/>
              </a:ext>
            </a:extLst>
          </p:cNvPr>
          <p:cNvSpPr>
            <a:spLocks noGrp="1"/>
          </p:cNvSpPr>
          <p:nvPr/>
        </p:nvSpPr>
        <p:spPr>
          <a:xfrm>
            <a:off x="2057400" y="35909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CFA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CFAF7"/>
                </a:solidFill>
                <a:latin typeface="Aptos"/>
                <a:ea typeface="Aptos"/>
                <a:cs typeface="Aptos"/>
              </a:rPr>
              <a:t>Tailor the resume to the JD</a:t>
            </a:r>
          </a:p>
        </p:txBody>
      </p:sp>
      <p:sp>
        <p:nvSpPr>
          <p:cNvPr id="13" name="step-dot-2">
            <a:extLst>
              <a:ext uri="{FF2B5EF4-FFF2-40B4-BE49-F238E27FC236}">
                <a16:creationId xmlns:a16="http://schemas.microsoft.com/office/drawing/2014/main" id="{37F3E7F3-B7DC-44DA-8FA6-BC038E6BE47B}"/>
              </a:ext>
            </a:extLst>
          </p:cNvPr>
          <p:cNvSpPr>
            <a:spLocks noGrp="1"/>
          </p:cNvSpPr>
          <p:nvPr/>
        </p:nvSpPr>
        <p:spPr>
          <a:xfrm>
            <a:off x="2552700" y="4600575"/>
            <a:ext cx="285750" cy="285750"/>
          </a:xfrm>
          <a:prstGeom prst="ellipse">
            <a:avLst/>
          </a:prstGeom>
          <a:solidFill>
            <a:srgbClr val="F0997B"/>
          </a:solidFill>
          <a:ln w="9525">
            <a:solidFill>
              <a:srgbClr val="F0997B"/>
            </a:solidFill>
            <a:prstDash val="solid"/>
          </a:ln>
        </p:spPr>
      </p:sp>
      <p:sp>
        <p:nvSpPr>
          <p:cNvPr id="14" name="step-line-2">
            <a:extLst>
              <a:ext uri="{FF2B5EF4-FFF2-40B4-BE49-F238E27FC236}">
                <a16:creationId xmlns:a16="http://schemas.microsoft.com/office/drawing/2014/main" id="{0ED7ECB1-0010-4E78-95CA-445B51346778}"/>
              </a:ext>
            </a:extLst>
          </p:cNvPr>
          <p:cNvSpPr>
            <a:spLocks noGrp="1"/>
          </p:cNvSpPr>
          <p:nvPr/>
        </p:nvSpPr>
        <p:spPr>
          <a:xfrm>
            <a:off x="2886075" y="4733925"/>
            <a:ext cx="1476375" cy="38100"/>
          </a:xfrm>
          <a:prstGeom prst="rect">
            <a:avLst/>
          </a:prstGeom>
          <a:solidFill>
            <a:srgbClr val="9F544A"/>
          </a:solidFill>
          <a:ln w="0">
            <a:noFill/>
            <a:prstDash val="solid"/>
          </a:ln>
        </p:spPr>
      </p:sp>
      <p:sp>
        <p:nvSpPr>
          <p:cNvPr id="15" name="step-icon-3">
            <a:extLst>
              <a:ext uri="{FF2B5EF4-FFF2-40B4-BE49-F238E27FC236}">
                <a16:creationId xmlns:a16="http://schemas.microsoft.com/office/drawing/2014/main" id="{8838DA13-7D2E-42D8-9164-C6433BDE98EB}"/>
              </a:ext>
            </a:extLst>
          </p:cNvPr>
          <p:cNvSpPr>
            <a:spLocks noGrp="1"/>
          </p:cNvSpPr>
          <p:nvPr/>
        </p:nvSpPr>
        <p:spPr>
          <a:xfrm>
            <a:off x="4229100" y="3057525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4A1516"/>
          </a:solidFill>
          <a:ln w="9525">
            <a:solidFill>
              <a:srgbClr val="9F544A"/>
            </a:solidFill>
            <a:prstDash val="solid"/>
          </a:ln>
        </p:spPr>
      </p:sp>
      <p:sp>
        <p:nvSpPr>
          <p:cNvPr id="16" name="step-number-3">
            <a:extLst>
              <a:ext uri="{FF2B5EF4-FFF2-40B4-BE49-F238E27FC236}">
                <a16:creationId xmlns:a16="http://schemas.microsoft.com/office/drawing/2014/main" id="{43792113-18B3-4019-AAC3-4441DA46425C}"/>
              </a:ext>
            </a:extLst>
          </p:cNvPr>
          <p:cNvSpPr>
            <a:spLocks noGrp="1"/>
          </p:cNvSpPr>
          <p:nvPr/>
        </p:nvSpPr>
        <p:spPr>
          <a:xfrm>
            <a:off x="4248150" y="317182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099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99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step-title-3">
            <a:extLst>
              <a:ext uri="{FF2B5EF4-FFF2-40B4-BE49-F238E27FC236}">
                <a16:creationId xmlns:a16="http://schemas.microsoft.com/office/drawing/2014/main" id="{743847D9-29D8-4C1D-A700-74EC76F271B2}"/>
              </a:ext>
            </a:extLst>
          </p:cNvPr>
          <p:cNvSpPr>
            <a:spLocks noGrp="1"/>
          </p:cNvSpPr>
          <p:nvPr/>
        </p:nvSpPr>
        <p:spPr>
          <a:xfrm>
            <a:off x="3800475" y="35909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CFA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CFAF7"/>
                </a:solidFill>
                <a:latin typeface="Aptos"/>
                <a:ea typeface="Aptos"/>
                <a:cs typeface="Aptos"/>
              </a:rPr>
              <a:t>Prepare proof</a:t>
            </a:r>
          </a:p>
        </p:txBody>
      </p:sp>
      <p:sp>
        <p:nvSpPr>
          <p:cNvPr id="18" name="step-dot-3">
            <a:extLst>
              <a:ext uri="{FF2B5EF4-FFF2-40B4-BE49-F238E27FC236}">
                <a16:creationId xmlns:a16="http://schemas.microsoft.com/office/drawing/2014/main" id="{84E5C5E3-C90F-4FBE-AC86-1B4A1A20CC1B}"/>
              </a:ext>
            </a:extLst>
          </p:cNvPr>
          <p:cNvSpPr>
            <a:spLocks noGrp="1"/>
          </p:cNvSpPr>
          <p:nvPr/>
        </p:nvSpPr>
        <p:spPr>
          <a:xfrm>
            <a:off x="4295775" y="4600575"/>
            <a:ext cx="285750" cy="285750"/>
          </a:xfrm>
          <a:prstGeom prst="ellipse">
            <a:avLst/>
          </a:prstGeom>
          <a:solidFill>
            <a:srgbClr val="F0997B"/>
          </a:solidFill>
          <a:ln w="9525">
            <a:solidFill>
              <a:srgbClr val="F0997B"/>
            </a:solidFill>
            <a:prstDash val="solid"/>
          </a:ln>
        </p:spPr>
      </p:sp>
      <p:sp>
        <p:nvSpPr>
          <p:cNvPr id="19" name="step-line-3">
            <a:extLst>
              <a:ext uri="{FF2B5EF4-FFF2-40B4-BE49-F238E27FC236}">
                <a16:creationId xmlns:a16="http://schemas.microsoft.com/office/drawing/2014/main" id="{B1C9D24F-8597-4A6E-B593-E2BE0FD91804}"/>
              </a:ext>
            </a:extLst>
          </p:cNvPr>
          <p:cNvSpPr>
            <a:spLocks noGrp="1"/>
          </p:cNvSpPr>
          <p:nvPr/>
        </p:nvSpPr>
        <p:spPr>
          <a:xfrm>
            <a:off x="4629150" y="4733925"/>
            <a:ext cx="1476375" cy="38100"/>
          </a:xfrm>
          <a:prstGeom prst="rect">
            <a:avLst/>
          </a:prstGeom>
          <a:solidFill>
            <a:srgbClr val="9F544A"/>
          </a:solidFill>
          <a:ln w="0">
            <a:noFill/>
            <a:prstDash val="solid"/>
          </a:ln>
        </p:spPr>
      </p:sp>
      <p:sp>
        <p:nvSpPr>
          <p:cNvPr id="20" name="step-icon-4">
            <a:extLst>
              <a:ext uri="{FF2B5EF4-FFF2-40B4-BE49-F238E27FC236}">
                <a16:creationId xmlns:a16="http://schemas.microsoft.com/office/drawing/2014/main" id="{6A39B7F6-3612-4FD0-9E07-9E044C986BF5}"/>
              </a:ext>
            </a:extLst>
          </p:cNvPr>
          <p:cNvSpPr>
            <a:spLocks noGrp="1"/>
          </p:cNvSpPr>
          <p:nvPr/>
        </p:nvSpPr>
        <p:spPr>
          <a:xfrm>
            <a:off x="5972175" y="3057525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4A1516"/>
          </a:solidFill>
          <a:ln w="9525">
            <a:solidFill>
              <a:srgbClr val="9F544A"/>
            </a:solidFill>
            <a:prstDash val="solid"/>
          </a:ln>
        </p:spPr>
      </p:sp>
      <p:sp>
        <p:nvSpPr>
          <p:cNvPr id="21" name="step-number-4">
            <a:extLst>
              <a:ext uri="{FF2B5EF4-FFF2-40B4-BE49-F238E27FC236}">
                <a16:creationId xmlns:a16="http://schemas.microsoft.com/office/drawing/2014/main" id="{5F1BEC08-CAA0-4FEA-AF99-7EFFA7C341BD}"/>
              </a:ext>
            </a:extLst>
          </p:cNvPr>
          <p:cNvSpPr>
            <a:spLocks noGrp="1"/>
          </p:cNvSpPr>
          <p:nvPr/>
        </p:nvSpPr>
        <p:spPr>
          <a:xfrm>
            <a:off x="5991225" y="317182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099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99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step-title-4">
            <a:extLst>
              <a:ext uri="{FF2B5EF4-FFF2-40B4-BE49-F238E27FC236}">
                <a16:creationId xmlns:a16="http://schemas.microsoft.com/office/drawing/2014/main" id="{5EB47F88-1D7B-4335-B319-BD27A278A446}"/>
              </a:ext>
            </a:extLst>
          </p:cNvPr>
          <p:cNvSpPr>
            <a:spLocks noGrp="1"/>
          </p:cNvSpPr>
          <p:nvPr/>
        </p:nvSpPr>
        <p:spPr>
          <a:xfrm>
            <a:off x="5543550" y="35909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CFA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CFAF7"/>
                </a:solidFill>
                <a:latin typeface="Aptos"/>
                <a:ea typeface="Aptos"/>
                <a:cs typeface="Aptos"/>
              </a:rPr>
              <a:t>Apply</a:t>
            </a:r>
          </a:p>
        </p:txBody>
      </p:sp>
      <p:sp>
        <p:nvSpPr>
          <p:cNvPr id="23" name="step-dot-4">
            <a:extLst>
              <a:ext uri="{FF2B5EF4-FFF2-40B4-BE49-F238E27FC236}">
                <a16:creationId xmlns:a16="http://schemas.microsoft.com/office/drawing/2014/main" id="{48E508F2-B1E1-4904-A431-091D67862C3C}"/>
              </a:ext>
            </a:extLst>
          </p:cNvPr>
          <p:cNvSpPr>
            <a:spLocks noGrp="1"/>
          </p:cNvSpPr>
          <p:nvPr/>
        </p:nvSpPr>
        <p:spPr>
          <a:xfrm>
            <a:off x="6038850" y="4600575"/>
            <a:ext cx="285750" cy="285750"/>
          </a:xfrm>
          <a:prstGeom prst="ellipse">
            <a:avLst/>
          </a:prstGeom>
          <a:solidFill>
            <a:srgbClr val="F0997B"/>
          </a:solidFill>
          <a:ln w="9525">
            <a:solidFill>
              <a:srgbClr val="F0997B"/>
            </a:solidFill>
            <a:prstDash val="solid"/>
          </a:ln>
        </p:spPr>
      </p:sp>
      <p:sp>
        <p:nvSpPr>
          <p:cNvPr id="24" name="step-line-4">
            <a:extLst>
              <a:ext uri="{FF2B5EF4-FFF2-40B4-BE49-F238E27FC236}">
                <a16:creationId xmlns:a16="http://schemas.microsoft.com/office/drawing/2014/main" id="{610E32C1-B901-4FB5-8140-945206B4C951}"/>
              </a:ext>
            </a:extLst>
          </p:cNvPr>
          <p:cNvSpPr>
            <a:spLocks noGrp="1"/>
          </p:cNvSpPr>
          <p:nvPr/>
        </p:nvSpPr>
        <p:spPr>
          <a:xfrm>
            <a:off x="6372225" y="4733925"/>
            <a:ext cx="1476375" cy="38100"/>
          </a:xfrm>
          <a:prstGeom prst="rect">
            <a:avLst/>
          </a:prstGeom>
          <a:solidFill>
            <a:srgbClr val="9F544A"/>
          </a:solidFill>
          <a:ln w="0">
            <a:noFill/>
            <a:prstDash val="solid"/>
          </a:ln>
        </p:spPr>
      </p:sp>
      <p:sp>
        <p:nvSpPr>
          <p:cNvPr id="25" name="step-icon-5">
            <a:extLst>
              <a:ext uri="{FF2B5EF4-FFF2-40B4-BE49-F238E27FC236}">
                <a16:creationId xmlns:a16="http://schemas.microsoft.com/office/drawing/2014/main" id="{5ACBCC78-5CA2-499E-BA21-36A62D902EB8}"/>
              </a:ext>
            </a:extLst>
          </p:cNvPr>
          <p:cNvSpPr>
            <a:spLocks noGrp="1"/>
          </p:cNvSpPr>
          <p:nvPr/>
        </p:nvSpPr>
        <p:spPr>
          <a:xfrm>
            <a:off x="7715250" y="3057525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4A1516"/>
          </a:solidFill>
          <a:ln w="9525">
            <a:solidFill>
              <a:srgbClr val="9F544A"/>
            </a:solidFill>
            <a:prstDash val="solid"/>
          </a:ln>
        </p:spPr>
      </p:sp>
      <p:sp>
        <p:nvSpPr>
          <p:cNvPr id="26" name="step-number-5">
            <a:extLst>
              <a:ext uri="{FF2B5EF4-FFF2-40B4-BE49-F238E27FC236}">
                <a16:creationId xmlns:a16="http://schemas.microsoft.com/office/drawing/2014/main" id="{E53377C1-8F97-4CD1-9154-01A1C9EB9E7B}"/>
              </a:ext>
            </a:extLst>
          </p:cNvPr>
          <p:cNvSpPr>
            <a:spLocks noGrp="1"/>
          </p:cNvSpPr>
          <p:nvPr/>
        </p:nvSpPr>
        <p:spPr>
          <a:xfrm>
            <a:off x="7734300" y="317182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099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99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step-title-5">
            <a:extLst>
              <a:ext uri="{FF2B5EF4-FFF2-40B4-BE49-F238E27FC236}">
                <a16:creationId xmlns:a16="http://schemas.microsoft.com/office/drawing/2014/main" id="{C0C34075-822B-49A7-83EF-263E4EE0DEC7}"/>
              </a:ext>
            </a:extLst>
          </p:cNvPr>
          <p:cNvSpPr>
            <a:spLocks noGrp="1"/>
          </p:cNvSpPr>
          <p:nvPr/>
        </p:nvSpPr>
        <p:spPr>
          <a:xfrm>
            <a:off x="7286625" y="35909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CFA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CFAF7"/>
                </a:solidFill>
                <a:latin typeface="Aptos"/>
                <a:ea typeface="Aptos"/>
                <a:cs typeface="Aptos"/>
              </a:rPr>
              <a:t>Connect with relevant people</a:t>
            </a:r>
          </a:p>
        </p:txBody>
      </p:sp>
      <p:sp>
        <p:nvSpPr>
          <p:cNvPr id="28" name="step-dot-5">
            <a:extLst>
              <a:ext uri="{FF2B5EF4-FFF2-40B4-BE49-F238E27FC236}">
                <a16:creationId xmlns:a16="http://schemas.microsoft.com/office/drawing/2014/main" id="{42FBCA76-5C82-4D5C-9FB3-7BF61ADF2452}"/>
              </a:ext>
            </a:extLst>
          </p:cNvPr>
          <p:cNvSpPr>
            <a:spLocks noGrp="1"/>
          </p:cNvSpPr>
          <p:nvPr/>
        </p:nvSpPr>
        <p:spPr>
          <a:xfrm>
            <a:off x="7781925" y="4600575"/>
            <a:ext cx="285750" cy="285750"/>
          </a:xfrm>
          <a:prstGeom prst="ellipse">
            <a:avLst/>
          </a:prstGeom>
          <a:solidFill>
            <a:srgbClr val="F0997B"/>
          </a:solidFill>
          <a:ln w="9525">
            <a:solidFill>
              <a:srgbClr val="F0997B"/>
            </a:solidFill>
            <a:prstDash val="solid"/>
          </a:ln>
        </p:spPr>
      </p:sp>
      <p:sp>
        <p:nvSpPr>
          <p:cNvPr id="29" name="step-line-5">
            <a:extLst>
              <a:ext uri="{FF2B5EF4-FFF2-40B4-BE49-F238E27FC236}">
                <a16:creationId xmlns:a16="http://schemas.microsoft.com/office/drawing/2014/main" id="{9544DCBC-105B-4D21-8A4D-3E901B182BA4}"/>
              </a:ext>
            </a:extLst>
          </p:cNvPr>
          <p:cNvSpPr>
            <a:spLocks noGrp="1"/>
          </p:cNvSpPr>
          <p:nvPr/>
        </p:nvSpPr>
        <p:spPr>
          <a:xfrm>
            <a:off x="8115300" y="4733925"/>
            <a:ext cx="1476375" cy="38100"/>
          </a:xfrm>
          <a:prstGeom prst="rect">
            <a:avLst/>
          </a:prstGeom>
          <a:solidFill>
            <a:srgbClr val="9F544A"/>
          </a:solidFill>
          <a:ln w="0">
            <a:noFill/>
            <a:prstDash val="solid"/>
          </a:ln>
        </p:spPr>
      </p:sp>
      <p:sp>
        <p:nvSpPr>
          <p:cNvPr id="30" name="step-icon-6">
            <a:extLst>
              <a:ext uri="{FF2B5EF4-FFF2-40B4-BE49-F238E27FC236}">
                <a16:creationId xmlns:a16="http://schemas.microsoft.com/office/drawing/2014/main" id="{B17F3AF7-A54B-4727-A10B-9F4172014956}"/>
              </a:ext>
            </a:extLst>
          </p:cNvPr>
          <p:cNvSpPr>
            <a:spLocks noGrp="1"/>
          </p:cNvSpPr>
          <p:nvPr/>
        </p:nvSpPr>
        <p:spPr>
          <a:xfrm>
            <a:off x="9458325" y="3057525"/>
            <a:ext cx="419100" cy="419100"/>
          </a:xfrm>
          <a:prstGeom prst="roundRect">
            <a:avLst>
              <a:gd name="adj" fmla="val 13636"/>
            </a:avLst>
          </a:prstGeom>
          <a:solidFill>
            <a:srgbClr val="4A1516"/>
          </a:solidFill>
          <a:ln w="9525">
            <a:solidFill>
              <a:srgbClr val="9F544A"/>
            </a:solidFill>
            <a:prstDash val="solid"/>
          </a:ln>
        </p:spPr>
      </p:sp>
      <p:sp>
        <p:nvSpPr>
          <p:cNvPr id="31" name="step-number-6">
            <a:extLst>
              <a:ext uri="{FF2B5EF4-FFF2-40B4-BE49-F238E27FC236}">
                <a16:creationId xmlns:a16="http://schemas.microsoft.com/office/drawing/2014/main" id="{E8EF7C98-3238-4C1F-B42C-3C358EB68B69}"/>
              </a:ext>
            </a:extLst>
          </p:cNvPr>
          <p:cNvSpPr>
            <a:spLocks noGrp="1"/>
          </p:cNvSpPr>
          <p:nvPr/>
        </p:nvSpPr>
        <p:spPr>
          <a:xfrm>
            <a:off x="9477375" y="3171825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F0997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997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2" name="step-title-6">
            <a:extLst>
              <a:ext uri="{FF2B5EF4-FFF2-40B4-BE49-F238E27FC236}">
                <a16:creationId xmlns:a16="http://schemas.microsoft.com/office/drawing/2014/main" id="{DF2E3DCC-BDD1-45CF-8702-E7F597CA0664}"/>
              </a:ext>
            </a:extLst>
          </p:cNvPr>
          <p:cNvSpPr>
            <a:spLocks noGrp="1"/>
          </p:cNvSpPr>
          <p:nvPr/>
        </p:nvSpPr>
        <p:spPr>
          <a:xfrm>
            <a:off x="9029700" y="3590925"/>
            <a:ext cx="1276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CFA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CFAF7"/>
                </a:solidFill>
                <a:latin typeface="Aptos"/>
                <a:ea typeface="Aptos"/>
                <a:cs typeface="Aptos"/>
              </a:rPr>
              <a:t>Improve the next cycle</a:t>
            </a:r>
          </a:p>
        </p:txBody>
      </p:sp>
      <p:sp>
        <p:nvSpPr>
          <p:cNvPr id="33" name="step-dot-6">
            <a:extLst>
              <a:ext uri="{FF2B5EF4-FFF2-40B4-BE49-F238E27FC236}">
                <a16:creationId xmlns:a16="http://schemas.microsoft.com/office/drawing/2014/main" id="{135F5205-9BBC-4FB7-97B6-8C7FDA9BFFDE}"/>
              </a:ext>
            </a:extLst>
          </p:cNvPr>
          <p:cNvSpPr>
            <a:spLocks noGrp="1"/>
          </p:cNvSpPr>
          <p:nvPr/>
        </p:nvSpPr>
        <p:spPr>
          <a:xfrm>
            <a:off x="9525000" y="4600575"/>
            <a:ext cx="285750" cy="285750"/>
          </a:xfrm>
          <a:prstGeom prst="ellipse">
            <a:avLst/>
          </a:prstGeom>
          <a:solidFill>
            <a:srgbClr val="F0997B"/>
          </a:solidFill>
          <a:ln w="9525">
            <a:solidFill>
              <a:srgbClr val="F0997B"/>
            </a:solidFill>
            <a:prstDash val="solid"/>
          </a:ln>
        </p:spPr>
      </p:sp>
      <p:sp>
        <p:nvSpPr>
          <p:cNvPr id="34" name="footer-left">
            <a:extLst>
              <a:ext uri="{FF2B5EF4-FFF2-40B4-BE49-F238E27FC236}">
                <a16:creationId xmlns:a16="http://schemas.microsoft.com/office/drawing/2014/main" id="{65A9B0AE-AD88-430A-A500-6D9F253D42BB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F7D9C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D9CE"/>
                </a:solidFill>
                <a:latin typeface="Aptos"/>
                <a:ea typeface="Aptos"/>
                <a:cs typeface="Aptos"/>
              </a:rPr>
              <a:t>Johanna Fan · Marketing / GTM / Customer Signal Analytics</a:t>
            </a:r>
          </a:p>
        </p:txBody>
      </p:sp>
      <p:sp>
        <p:nvSpPr>
          <p:cNvPr id="35" name="footer-right">
            <a:extLst>
              <a:ext uri="{FF2B5EF4-FFF2-40B4-BE49-F238E27FC236}">
                <a16:creationId xmlns:a16="http://schemas.microsoft.com/office/drawing/2014/main" id="{605BECF9-D446-46DB-AE48-3A31247FC1C5}"/>
              </a:ext>
            </a:extLst>
          </p:cNvPr>
          <p:cNvSpPr>
            <a:spLocks noGrp="1"/>
          </p:cNvSpPr>
          <p:nvPr/>
        </p:nvSpPr>
        <p:spPr>
          <a:xfrm>
            <a:off x="7905750" y="6343650"/>
            <a:ext cx="3676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F7D9C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7D9CE"/>
                </a:solidFill>
                <a:latin typeface="Aptos"/>
                <a:ea typeface="Aptos"/>
                <a:cs typeface="Aptos"/>
              </a:rPr>
              <a:t>Homepage · Workflow</a:t>
            </a:r>
          </a:p>
        </p:txBody>
      </p:sp>
    </p:spTree>
    <p:extLst>
      <p:ext uri="{BB962C8B-B14F-4D97-AF65-F5344CB8AC3E}">
        <p14:creationId xmlns:p14="http://schemas.microsoft.com/office/powerpoint/2010/main" val="1005954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381125"/>
            <a:ext cx="5905500" cy="2952750"/>
          </a:xfrm>
          <a:prstGeom prst="roundRect">
            <a:avLst/>
          </a:prstGeom>
        </p:spPr>
      </p:pic>
      <p:sp>
        <p:nvSpPr>
          <p:cNvPr id="2" name="kicker">
            <a:extLst>
              <a:ext uri="{FF2B5EF4-FFF2-40B4-BE49-F238E27FC236}">
                <a16:creationId xmlns:a16="http://schemas.microsoft.com/office/drawing/2014/main" id="{FD518C1A-5996-4486-9B43-E6A00D0B4ADD}"/>
              </a:ext>
            </a:extLst>
          </p:cNvPr>
          <p:cNvSpPr>
            <a:spLocks noGrp="1"/>
          </p:cNvSpPr>
          <p:nvPr/>
        </p:nvSpPr>
        <p:spPr>
          <a:xfrm>
            <a:off x="7067550" y="74295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RELIABILITY LAYER</a:t>
            </a:r>
          </a:p>
        </p:txBody>
      </p:sp>
      <p:sp>
        <p:nvSpPr>
          <p:cNvPr id="3" name="reliability-title">
            <a:extLst>
              <a:ext uri="{FF2B5EF4-FFF2-40B4-BE49-F238E27FC236}">
                <a16:creationId xmlns:a16="http://schemas.microsoft.com/office/drawing/2014/main" id="{D50E9C98-069E-4ECB-B289-8FF932A18771}"/>
              </a:ext>
            </a:extLst>
          </p:cNvPr>
          <p:cNvSpPr>
            <a:spLocks noGrp="1"/>
          </p:cNvSpPr>
          <p:nvPr/>
        </p:nvSpPr>
        <p:spPr>
          <a:xfrm>
            <a:off x="7067550" y="1123950"/>
            <a:ext cx="4191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225" b="1">
                <a:solidFill>
                  <a:srgbClr val="12110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2110F"/>
                </a:solidFill>
                <a:latin typeface="Aptos"/>
                <a:ea typeface="Aptos"/>
                <a:cs typeface="Aptos"/>
              </a:rPr>
              <a:t>AI-assisted skill layer</a:t>
            </a:r>
          </a:p>
        </p:txBody>
      </p:sp>
      <p:sp>
        <p:nvSpPr>
          <p:cNvPr id="4" name="reliability-copy-1">
            <a:extLst>
              <a:ext uri="{FF2B5EF4-FFF2-40B4-BE49-F238E27FC236}">
                <a16:creationId xmlns:a16="http://schemas.microsoft.com/office/drawing/2014/main" id="{378C2CD7-9527-4FD9-BDFE-BED678E0EE6C}"/>
              </a:ext>
            </a:extLst>
          </p:cNvPr>
          <p:cNvSpPr>
            <a:spLocks noGrp="1"/>
          </p:cNvSpPr>
          <p:nvPr/>
        </p:nvSpPr>
        <p:spPr>
          <a:xfrm>
            <a:off x="7067550" y="2095500"/>
            <a:ext cx="4095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4A4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4235"/>
                </a:solidFill>
                <a:latin typeface="Aptos"/>
                <a:ea typeface="Aptos"/>
                <a:cs typeface="Aptos"/>
              </a:rPr>
              <a:t>A workflow becomes more valuable when each run makes the next one sharper.</a:t>
            </a:r>
          </a:p>
        </p:txBody>
      </p:sp>
      <p:sp>
        <p:nvSpPr>
          <p:cNvPr id="5" name="reliability-copy-2">
            <a:extLst>
              <a:ext uri="{FF2B5EF4-FFF2-40B4-BE49-F238E27FC236}">
                <a16:creationId xmlns:a16="http://schemas.microsoft.com/office/drawing/2014/main" id="{FEE534C8-629D-4412-A4B9-FB34FAE2E95F}"/>
              </a:ext>
            </a:extLst>
          </p:cNvPr>
          <p:cNvSpPr>
            <a:spLocks noGrp="1"/>
          </p:cNvSpPr>
          <p:nvPr/>
        </p:nvSpPr>
        <p:spPr>
          <a:xfrm>
            <a:off x="7067550" y="2724150"/>
            <a:ext cx="40957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After each role, company signal, or stakeholder question moves through the roadmap, I use AI to externalize the judgment: what mattered, what was missing, what could not be claimed, and where human review changed the decision.</a:t>
            </a:r>
          </a:p>
        </p:txBody>
      </p:sp>
      <p:sp>
        <p:nvSpPr>
          <p:cNvPr id="6" name="reliability-copy-3">
            <a:extLst>
              <a:ext uri="{FF2B5EF4-FFF2-40B4-BE49-F238E27FC236}">
                <a16:creationId xmlns:a16="http://schemas.microsoft.com/office/drawing/2014/main" id="{D651D0FD-DD46-4B53-BC68-0FF34C43F818}"/>
              </a:ext>
            </a:extLst>
          </p:cNvPr>
          <p:cNvSpPr>
            <a:spLocks noGrp="1"/>
          </p:cNvSpPr>
          <p:nvPr/>
        </p:nvSpPr>
        <p:spPr>
          <a:xfrm>
            <a:off x="7067550" y="4057650"/>
            <a:ext cx="4095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Repeated patterns become one reusable AI skill for source order, audience context, KPI questions, guardrails, review points, and write-back behavior.</a:t>
            </a:r>
          </a:p>
        </p:txBody>
      </p:sp>
      <p:sp>
        <p:nvSpPr>
          <p:cNvPr id="7" name="reliability-callout">
            <a:extLst>
              <a:ext uri="{FF2B5EF4-FFF2-40B4-BE49-F238E27FC236}">
                <a16:creationId xmlns:a16="http://schemas.microsoft.com/office/drawing/2014/main" id="{E8B82A7C-11AB-4AD2-93F9-00D579702989}"/>
              </a:ext>
            </a:extLst>
          </p:cNvPr>
          <p:cNvSpPr>
            <a:spLocks noGrp="1"/>
          </p:cNvSpPr>
          <p:nvPr/>
        </p:nvSpPr>
        <p:spPr>
          <a:xfrm>
            <a:off x="7067550" y="5010150"/>
            <a:ext cx="4095750" cy="552450"/>
          </a:xfrm>
          <a:prstGeom prst="roundRect">
            <a:avLst>
              <a:gd name="adj" fmla="val 13793"/>
            </a:avLst>
          </a:prstGeom>
          <a:solidFill>
            <a:srgbClr val="FFF8F4"/>
          </a:solidFill>
          <a:ln w="9525">
            <a:solidFill>
              <a:srgbClr val="F0D1C5"/>
            </a:solidFill>
            <a:prstDash val="solid"/>
          </a:ln>
        </p:spPr>
      </p:sp>
      <p:sp>
        <p:nvSpPr>
          <p:cNvPr id="8" name="reliability-callout-text">
            <a:extLst>
              <a:ext uri="{FF2B5EF4-FFF2-40B4-BE49-F238E27FC236}">
                <a16:creationId xmlns:a16="http://schemas.microsoft.com/office/drawing/2014/main" id="{985E2B4E-9AF1-4E38-94A7-015D2416B2B5}"/>
              </a:ext>
            </a:extLst>
          </p:cNvPr>
          <p:cNvSpPr>
            <a:spLocks noGrp="1"/>
          </p:cNvSpPr>
          <p:nvPr/>
        </p:nvSpPr>
        <p:spPr>
          <a:xfrm>
            <a:off x="7258050" y="5181600"/>
            <a:ext cx="3714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The next run starts from a clearer method.</a:t>
            </a:r>
          </a:p>
        </p:txBody>
      </p:sp>
      <p:sp>
        <p:nvSpPr>
          <p:cNvPr id="9" name="footer-left">
            <a:extLst>
              <a:ext uri="{FF2B5EF4-FFF2-40B4-BE49-F238E27FC236}">
                <a16:creationId xmlns:a16="http://schemas.microsoft.com/office/drawing/2014/main" id="{60CD756A-2B85-4DF0-B53F-70027509C1F6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Johanna Fan · Marketing / GTM / Customer Signal Analytics</a:t>
            </a:r>
          </a:p>
        </p:txBody>
      </p:sp>
      <p:sp>
        <p:nvSpPr>
          <p:cNvPr id="10" name="footer-right">
            <a:extLst>
              <a:ext uri="{FF2B5EF4-FFF2-40B4-BE49-F238E27FC236}">
                <a16:creationId xmlns:a16="http://schemas.microsoft.com/office/drawing/2014/main" id="{9302E7EC-B7A5-4D5C-943D-7CE1C2FF0EE8}"/>
              </a:ext>
            </a:extLst>
          </p:cNvPr>
          <p:cNvSpPr>
            <a:spLocks noGrp="1"/>
          </p:cNvSpPr>
          <p:nvPr/>
        </p:nvSpPr>
        <p:spPr>
          <a:xfrm>
            <a:off x="7905750" y="6343650"/>
            <a:ext cx="3676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Homepage · Reliability</a:t>
            </a:r>
          </a:p>
        </p:txBody>
      </p:sp>
    </p:spTree>
    <p:extLst>
      <p:ext uri="{BB962C8B-B14F-4D97-AF65-F5344CB8AC3E}">
        <p14:creationId xmlns:p14="http://schemas.microsoft.com/office/powerpoint/2010/main" val="564737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kicker">
            <a:extLst>
              <a:ext uri="{FF2B5EF4-FFF2-40B4-BE49-F238E27FC236}">
                <a16:creationId xmlns:a16="http://schemas.microsoft.com/office/drawing/2014/main" id="{8FFA54EF-7D45-49C9-BE32-0395268E4489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MARKETING FIT</a:t>
            </a:r>
          </a:p>
        </p:txBody>
      </p:sp>
      <p:sp>
        <p:nvSpPr>
          <p:cNvPr id="2" name="marketing-title">
            <a:extLst>
              <a:ext uri="{FF2B5EF4-FFF2-40B4-BE49-F238E27FC236}">
                <a16:creationId xmlns:a16="http://schemas.microsoft.com/office/drawing/2014/main" id="{DF5690C9-58B1-4408-B9F8-7228207DEFBC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61912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75" b="1">
                <a:solidFill>
                  <a:srgbClr val="12110F"/>
                </a:solidFill>
                <a:latin typeface="Aptos"/>
                <a:ea typeface="Aptos"/>
                <a:cs typeface="Aptos"/>
              </a:defRPr>
            </a:pPr>
            <a:r>
              <a:rPr sz="3075" b="1">
                <a:solidFill>
                  <a:srgbClr val="12110F"/>
                </a:solidFill>
                <a:latin typeface="Aptos"/>
                <a:ea typeface="Aptos"/>
                <a:cs typeface="Aptos"/>
              </a:rPr>
              <a:t>Why it matters for Marketing / GTM analytics</a:t>
            </a:r>
          </a:p>
        </p:txBody>
      </p:sp>
      <p:sp>
        <p:nvSpPr>
          <p:cNvPr id="3" name="marketing-copy-1">
            <a:extLst>
              <a:ext uri="{FF2B5EF4-FFF2-40B4-BE49-F238E27FC236}">
                <a16:creationId xmlns:a16="http://schemas.microsoft.com/office/drawing/2014/main" id="{44C24124-F47C-4C69-B00C-8E6EA4FB18DD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59055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4A423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A4235"/>
                </a:solidFill>
                <a:latin typeface="Aptos"/>
                <a:ea typeface="Aptos"/>
                <a:cs typeface="Aptos"/>
              </a:rPr>
              <a:t>Good marketing analytics depends on the work that happens before the dashboard: clean source context, meaningful audience logic, focused KPI questions, and handoffs that turn reporting into clearer campaign, channel, audience, or workflow decisions.</a:t>
            </a:r>
          </a:p>
        </p:txBody>
      </p:sp>
      <p:sp>
        <p:nvSpPr>
          <p:cNvPr id="4" name="marketing-copy-2">
            <a:extLst>
              <a:ext uri="{FF2B5EF4-FFF2-40B4-BE49-F238E27FC236}">
                <a16:creationId xmlns:a16="http://schemas.microsoft.com/office/drawing/2014/main" id="{15F0B444-81C5-433F-BE2C-31544FE7DFFA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590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This pipeline practices that same pattern. Each role, company read, or conversation becomes a small GTM signal system.</a:t>
            </a:r>
          </a:p>
        </p:txBody>
      </p:sp>
      <p:sp>
        <p:nvSpPr>
          <p:cNvPr id="5" name="marketing-boundary">
            <a:extLst>
              <a:ext uri="{FF2B5EF4-FFF2-40B4-BE49-F238E27FC236}">
                <a16:creationId xmlns:a16="http://schemas.microsoft.com/office/drawing/2014/main" id="{4DBD980D-B910-45B3-B6DC-624F3B72251B}"/>
              </a:ext>
            </a:extLst>
          </p:cNvPr>
          <p:cNvSpPr>
            <a:spLocks noGrp="1"/>
          </p:cNvSpPr>
          <p:nvPr/>
        </p:nvSpPr>
        <p:spPr>
          <a:xfrm>
            <a:off x="609600" y="4400550"/>
            <a:ext cx="5905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Current ownership: source context, claim boundaries, handoff-ready proof, and questions that make reporting useful.</a:t>
            </a:r>
          </a:p>
        </p:txBody>
      </p:sp>
      <p:sp>
        <p:nvSpPr>
          <p:cNvPr id="6" name="decision-map">
            <a:extLst>
              <a:ext uri="{FF2B5EF4-FFF2-40B4-BE49-F238E27FC236}">
                <a16:creationId xmlns:a16="http://schemas.microsoft.com/office/drawing/2014/main" id="{A0E186DD-79A7-4F38-AB21-8CD155682D01}"/>
              </a:ext>
            </a:extLst>
          </p:cNvPr>
          <p:cNvSpPr>
            <a:spLocks noGrp="1"/>
          </p:cNvSpPr>
          <p:nvPr/>
        </p:nvSpPr>
        <p:spPr>
          <a:xfrm>
            <a:off x="7067550" y="895350"/>
            <a:ext cx="4114800" cy="4572000"/>
          </a:xfrm>
          <a:prstGeom prst="roundRect">
            <a:avLst>
              <a:gd name="adj" fmla="val 1852"/>
            </a:avLst>
          </a:prstGeom>
          <a:solidFill>
            <a:srgbClr val="FFFDFA">
              <a:alpha val="80000"/>
            </a:srgbClr>
          </a:solidFill>
          <a:ln w="9525">
            <a:solidFill>
              <a:srgbClr val="DED6CB"/>
            </a:solidFill>
            <a:prstDash val="solid"/>
          </a:ln>
        </p:spPr>
      </p:sp>
      <p:sp>
        <p:nvSpPr>
          <p:cNvPr id="7" name="decision-map-kicker">
            <a:extLst>
              <a:ext uri="{FF2B5EF4-FFF2-40B4-BE49-F238E27FC236}">
                <a16:creationId xmlns:a16="http://schemas.microsoft.com/office/drawing/2014/main" id="{D9BD02D0-14A3-4D1B-A5A6-7865781F54EC}"/>
              </a:ext>
            </a:extLst>
          </p:cNvPr>
          <p:cNvSpPr>
            <a:spLocks noGrp="1"/>
          </p:cNvSpPr>
          <p:nvPr/>
        </p:nvSpPr>
        <p:spPr>
          <a:xfrm>
            <a:off x="7391400" y="12001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Before the dashboard</a:t>
            </a:r>
          </a:p>
        </p:txBody>
      </p:sp>
      <p:sp>
        <p:nvSpPr>
          <p:cNvPr id="8" name="decision-map-title">
            <a:extLst>
              <a:ext uri="{FF2B5EF4-FFF2-40B4-BE49-F238E27FC236}">
                <a16:creationId xmlns:a16="http://schemas.microsoft.com/office/drawing/2014/main" id="{373B9E70-A50E-48BE-A1AD-3EFA713CE8FE}"/>
              </a:ext>
            </a:extLst>
          </p:cNvPr>
          <p:cNvSpPr>
            <a:spLocks noGrp="1"/>
          </p:cNvSpPr>
          <p:nvPr/>
        </p:nvSpPr>
        <p:spPr>
          <a:xfrm>
            <a:off x="7391400" y="1485900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12110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2110F"/>
                </a:solidFill>
                <a:latin typeface="Aptos"/>
                <a:ea typeface="Aptos"/>
                <a:cs typeface="Aptos"/>
              </a:rPr>
              <a:t>Upstream work shapes decision quality</a:t>
            </a:r>
          </a:p>
        </p:txBody>
      </p:sp>
      <p:sp>
        <p:nvSpPr>
          <p:cNvPr id="9" name="decision-node-1">
            <a:extLst>
              <a:ext uri="{FF2B5EF4-FFF2-40B4-BE49-F238E27FC236}">
                <a16:creationId xmlns:a16="http://schemas.microsoft.com/office/drawing/2014/main" id="{7B57B705-8F86-4D6C-99A4-6AF3B2A9368B}"/>
              </a:ext>
            </a:extLst>
          </p:cNvPr>
          <p:cNvSpPr>
            <a:spLocks noGrp="1"/>
          </p:cNvSpPr>
          <p:nvPr/>
        </p:nvSpPr>
        <p:spPr>
          <a:xfrm>
            <a:off x="7391400" y="2324100"/>
            <a:ext cx="361950" cy="361950"/>
          </a:xfrm>
          <a:prstGeom prst="ellipse">
            <a:avLst/>
          </a:prstGeom>
          <a:solidFill>
            <a:srgbClr val="FFF8F4"/>
          </a:solidFill>
          <a:ln w="9525">
            <a:solidFill>
              <a:srgbClr val="F0C9BA"/>
            </a:solidFill>
            <a:prstDash val="solid"/>
          </a:ln>
        </p:spPr>
      </p:sp>
      <p:sp>
        <p:nvSpPr>
          <p:cNvPr id="10" name="decision-number-1">
            <a:extLst>
              <a:ext uri="{FF2B5EF4-FFF2-40B4-BE49-F238E27FC236}">
                <a16:creationId xmlns:a16="http://schemas.microsoft.com/office/drawing/2014/main" id="{AEEE0F65-77CD-46C4-BD7C-87C53A480FD3}"/>
              </a:ext>
            </a:extLst>
          </p:cNvPr>
          <p:cNvSpPr>
            <a:spLocks noGrp="1"/>
          </p:cNvSpPr>
          <p:nvPr/>
        </p:nvSpPr>
        <p:spPr>
          <a:xfrm>
            <a:off x="7391400" y="24193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decision-step-1">
            <a:extLst>
              <a:ext uri="{FF2B5EF4-FFF2-40B4-BE49-F238E27FC236}">
                <a16:creationId xmlns:a16="http://schemas.microsoft.com/office/drawing/2014/main" id="{701A2684-76C8-4B0F-BA95-E6A0DFE191EC}"/>
              </a:ext>
            </a:extLst>
          </p:cNvPr>
          <p:cNvSpPr>
            <a:spLocks noGrp="1"/>
          </p:cNvSpPr>
          <p:nvPr/>
        </p:nvSpPr>
        <p:spPr>
          <a:xfrm>
            <a:off x="7924800" y="2390775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3029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0291F"/>
                </a:solidFill>
                <a:latin typeface="Aptos"/>
                <a:ea typeface="Aptos"/>
                <a:cs typeface="Aptos"/>
              </a:rPr>
              <a:t>Clean source context</a:t>
            </a:r>
          </a:p>
        </p:txBody>
      </p:sp>
      <p:sp>
        <p:nvSpPr>
          <p:cNvPr id="12" name="decision-node-2">
            <a:extLst>
              <a:ext uri="{FF2B5EF4-FFF2-40B4-BE49-F238E27FC236}">
                <a16:creationId xmlns:a16="http://schemas.microsoft.com/office/drawing/2014/main" id="{6D45C919-EEFE-4DF3-A121-38CEA01E2AD0}"/>
              </a:ext>
            </a:extLst>
          </p:cNvPr>
          <p:cNvSpPr>
            <a:spLocks noGrp="1"/>
          </p:cNvSpPr>
          <p:nvPr/>
        </p:nvSpPr>
        <p:spPr>
          <a:xfrm>
            <a:off x="7391400" y="2876550"/>
            <a:ext cx="361950" cy="361950"/>
          </a:xfrm>
          <a:prstGeom prst="ellipse">
            <a:avLst/>
          </a:prstGeom>
          <a:solidFill>
            <a:srgbClr val="FFF8F4"/>
          </a:solidFill>
          <a:ln w="9525">
            <a:solidFill>
              <a:srgbClr val="F0C9BA"/>
            </a:solidFill>
            <a:prstDash val="solid"/>
          </a:ln>
        </p:spPr>
      </p:sp>
      <p:sp>
        <p:nvSpPr>
          <p:cNvPr id="13" name="decision-number-2">
            <a:extLst>
              <a:ext uri="{FF2B5EF4-FFF2-40B4-BE49-F238E27FC236}">
                <a16:creationId xmlns:a16="http://schemas.microsoft.com/office/drawing/2014/main" id="{840E7DE0-CC40-42C5-8F8C-676A1CF6F691}"/>
              </a:ext>
            </a:extLst>
          </p:cNvPr>
          <p:cNvSpPr>
            <a:spLocks noGrp="1"/>
          </p:cNvSpPr>
          <p:nvPr/>
        </p:nvSpPr>
        <p:spPr>
          <a:xfrm>
            <a:off x="7391400" y="297180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decision-step-2">
            <a:extLst>
              <a:ext uri="{FF2B5EF4-FFF2-40B4-BE49-F238E27FC236}">
                <a16:creationId xmlns:a16="http://schemas.microsoft.com/office/drawing/2014/main" id="{59208FD9-89C6-4C9B-A19C-A245768E64C9}"/>
              </a:ext>
            </a:extLst>
          </p:cNvPr>
          <p:cNvSpPr>
            <a:spLocks noGrp="1"/>
          </p:cNvSpPr>
          <p:nvPr/>
        </p:nvSpPr>
        <p:spPr>
          <a:xfrm>
            <a:off x="7924800" y="2943225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3029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0291F"/>
                </a:solidFill>
                <a:latin typeface="Aptos"/>
                <a:ea typeface="Aptos"/>
                <a:cs typeface="Aptos"/>
              </a:rPr>
              <a:t>Meaningful audience logic</a:t>
            </a:r>
          </a:p>
        </p:txBody>
      </p:sp>
      <p:sp>
        <p:nvSpPr>
          <p:cNvPr id="15" name="decision-node-3">
            <a:extLst>
              <a:ext uri="{FF2B5EF4-FFF2-40B4-BE49-F238E27FC236}">
                <a16:creationId xmlns:a16="http://schemas.microsoft.com/office/drawing/2014/main" id="{65D40830-41A3-4C24-ABA5-B0044B45DBA9}"/>
              </a:ext>
            </a:extLst>
          </p:cNvPr>
          <p:cNvSpPr>
            <a:spLocks noGrp="1"/>
          </p:cNvSpPr>
          <p:nvPr/>
        </p:nvSpPr>
        <p:spPr>
          <a:xfrm>
            <a:off x="7391400" y="3429000"/>
            <a:ext cx="361950" cy="361950"/>
          </a:xfrm>
          <a:prstGeom prst="ellipse">
            <a:avLst/>
          </a:prstGeom>
          <a:solidFill>
            <a:srgbClr val="FFF8F4"/>
          </a:solidFill>
          <a:ln w="9525">
            <a:solidFill>
              <a:srgbClr val="F0C9BA"/>
            </a:solidFill>
            <a:prstDash val="solid"/>
          </a:ln>
        </p:spPr>
      </p:sp>
      <p:sp>
        <p:nvSpPr>
          <p:cNvPr id="16" name="decision-number-3">
            <a:extLst>
              <a:ext uri="{FF2B5EF4-FFF2-40B4-BE49-F238E27FC236}">
                <a16:creationId xmlns:a16="http://schemas.microsoft.com/office/drawing/2014/main" id="{58BAE1C5-73B0-4572-9F26-97F43DD769D2}"/>
              </a:ext>
            </a:extLst>
          </p:cNvPr>
          <p:cNvSpPr>
            <a:spLocks noGrp="1"/>
          </p:cNvSpPr>
          <p:nvPr/>
        </p:nvSpPr>
        <p:spPr>
          <a:xfrm>
            <a:off x="7391400" y="352425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decision-step-3">
            <a:extLst>
              <a:ext uri="{FF2B5EF4-FFF2-40B4-BE49-F238E27FC236}">
                <a16:creationId xmlns:a16="http://schemas.microsoft.com/office/drawing/2014/main" id="{93E4F325-4E66-4B56-93DE-AA19762E63DA}"/>
              </a:ext>
            </a:extLst>
          </p:cNvPr>
          <p:cNvSpPr>
            <a:spLocks noGrp="1"/>
          </p:cNvSpPr>
          <p:nvPr/>
        </p:nvSpPr>
        <p:spPr>
          <a:xfrm>
            <a:off x="7924800" y="3495675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3029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0291F"/>
                </a:solidFill>
                <a:latin typeface="Aptos"/>
                <a:ea typeface="Aptos"/>
                <a:cs typeface="Aptos"/>
              </a:rPr>
              <a:t>Focused KPI questions</a:t>
            </a:r>
          </a:p>
        </p:txBody>
      </p:sp>
      <p:sp>
        <p:nvSpPr>
          <p:cNvPr id="18" name="decision-node-4">
            <a:extLst>
              <a:ext uri="{FF2B5EF4-FFF2-40B4-BE49-F238E27FC236}">
                <a16:creationId xmlns:a16="http://schemas.microsoft.com/office/drawing/2014/main" id="{1AFFC836-EABD-4433-880A-4F7B7A014CCD}"/>
              </a:ext>
            </a:extLst>
          </p:cNvPr>
          <p:cNvSpPr>
            <a:spLocks noGrp="1"/>
          </p:cNvSpPr>
          <p:nvPr/>
        </p:nvSpPr>
        <p:spPr>
          <a:xfrm>
            <a:off x="7391400" y="3981450"/>
            <a:ext cx="361950" cy="361950"/>
          </a:xfrm>
          <a:prstGeom prst="ellipse">
            <a:avLst/>
          </a:prstGeom>
          <a:solidFill>
            <a:srgbClr val="FFF8F4"/>
          </a:solidFill>
          <a:ln w="9525">
            <a:solidFill>
              <a:srgbClr val="F0C9BA"/>
            </a:solidFill>
            <a:prstDash val="solid"/>
          </a:ln>
        </p:spPr>
      </p:sp>
      <p:sp>
        <p:nvSpPr>
          <p:cNvPr id="19" name="decision-number-4">
            <a:extLst>
              <a:ext uri="{FF2B5EF4-FFF2-40B4-BE49-F238E27FC236}">
                <a16:creationId xmlns:a16="http://schemas.microsoft.com/office/drawing/2014/main" id="{78DC5CF5-20CF-4B48-84D2-556284B69177}"/>
              </a:ext>
            </a:extLst>
          </p:cNvPr>
          <p:cNvSpPr>
            <a:spLocks noGrp="1"/>
          </p:cNvSpPr>
          <p:nvPr/>
        </p:nvSpPr>
        <p:spPr>
          <a:xfrm>
            <a:off x="7391400" y="4076700"/>
            <a:ext cx="3619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decision-step-4">
            <a:extLst>
              <a:ext uri="{FF2B5EF4-FFF2-40B4-BE49-F238E27FC236}">
                <a16:creationId xmlns:a16="http://schemas.microsoft.com/office/drawing/2014/main" id="{4A687FB7-09D3-4890-A652-8DEAE8418772}"/>
              </a:ext>
            </a:extLst>
          </p:cNvPr>
          <p:cNvSpPr>
            <a:spLocks noGrp="1"/>
          </p:cNvSpPr>
          <p:nvPr/>
        </p:nvSpPr>
        <p:spPr>
          <a:xfrm>
            <a:off x="7924800" y="4048125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30291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0291F"/>
                </a:solidFill>
                <a:latin typeface="Aptos"/>
                <a:ea typeface="Aptos"/>
                <a:cs typeface="Aptos"/>
              </a:rPr>
              <a:t>Handoff-ready readout</a:t>
            </a:r>
          </a:p>
        </p:txBody>
      </p:sp>
      <p:sp>
        <p:nvSpPr>
          <p:cNvPr id="21" name="decision-outcome-label">
            <a:extLst>
              <a:ext uri="{FF2B5EF4-FFF2-40B4-BE49-F238E27FC236}">
                <a16:creationId xmlns:a16="http://schemas.microsoft.com/office/drawing/2014/main" id="{2716047F-AE0F-4DD2-A5CA-C587CECA417A}"/>
              </a:ext>
            </a:extLst>
          </p:cNvPr>
          <p:cNvSpPr>
            <a:spLocks noGrp="1"/>
          </p:cNvSpPr>
          <p:nvPr/>
        </p:nvSpPr>
        <p:spPr>
          <a:xfrm>
            <a:off x="7391400" y="4629150"/>
            <a:ext cx="2476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Turns into decisions about</a:t>
            </a:r>
          </a:p>
        </p:txBody>
      </p:sp>
      <p:sp>
        <p:nvSpPr>
          <p:cNvPr id="22" name="decision-chip-1">
            <a:extLst>
              <a:ext uri="{FF2B5EF4-FFF2-40B4-BE49-F238E27FC236}">
                <a16:creationId xmlns:a16="http://schemas.microsoft.com/office/drawing/2014/main" id="{FC077EAD-7B24-4FCE-838A-2E6C9B63DEA0}"/>
              </a:ext>
            </a:extLst>
          </p:cNvPr>
          <p:cNvSpPr>
            <a:spLocks noGrp="1"/>
          </p:cNvSpPr>
          <p:nvPr/>
        </p:nvSpPr>
        <p:spPr>
          <a:xfrm>
            <a:off x="7391400" y="4991100"/>
            <a:ext cx="800100" cy="323850"/>
          </a:xfrm>
          <a:prstGeom prst="roundRect">
            <a:avLst>
              <a:gd name="adj" fmla="val 35294"/>
            </a:avLst>
          </a:prstGeom>
          <a:solidFill>
            <a:srgbClr val="FFF8F4"/>
          </a:solidFill>
          <a:ln w="9525">
            <a:solidFill>
              <a:srgbClr val="F0C9BA"/>
            </a:solidFill>
            <a:prstDash val="solid"/>
          </a:ln>
        </p:spPr>
      </p:sp>
      <p:sp>
        <p:nvSpPr>
          <p:cNvPr id="23" name="decision-chip-label-1">
            <a:extLst>
              <a:ext uri="{FF2B5EF4-FFF2-40B4-BE49-F238E27FC236}">
                <a16:creationId xmlns:a16="http://schemas.microsoft.com/office/drawing/2014/main" id="{F63CD4A1-D1CA-4F00-8160-CEB1F941BC08}"/>
              </a:ext>
            </a:extLst>
          </p:cNvPr>
          <p:cNvSpPr>
            <a:spLocks noGrp="1"/>
          </p:cNvSpPr>
          <p:nvPr/>
        </p:nvSpPr>
        <p:spPr>
          <a:xfrm>
            <a:off x="7419975" y="5076825"/>
            <a:ext cx="7429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88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Campaign</a:t>
            </a:r>
          </a:p>
        </p:txBody>
      </p:sp>
      <p:sp>
        <p:nvSpPr>
          <p:cNvPr id="24" name="decision-chip-2">
            <a:extLst>
              <a:ext uri="{FF2B5EF4-FFF2-40B4-BE49-F238E27FC236}">
                <a16:creationId xmlns:a16="http://schemas.microsoft.com/office/drawing/2014/main" id="{36B9A66F-6FD4-4ED9-BA21-F5EEE22CD3BD}"/>
              </a:ext>
            </a:extLst>
          </p:cNvPr>
          <p:cNvSpPr>
            <a:spLocks noGrp="1"/>
          </p:cNvSpPr>
          <p:nvPr/>
        </p:nvSpPr>
        <p:spPr>
          <a:xfrm>
            <a:off x="8248650" y="4991100"/>
            <a:ext cx="800100" cy="323850"/>
          </a:xfrm>
          <a:prstGeom prst="roundRect">
            <a:avLst>
              <a:gd name="adj" fmla="val 35294"/>
            </a:avLst>
          </a:prstGeom>
          <a:solidFill>
            <a:srgbClr val="FFF8F4"/>
          </a:solidFill>
          <a:ln w="9525">
            <a:solidFill>
              <a:srgbClr val="F0C9BA"/>
            </a:solidFill>
            <a:prstDash val="solid"/>
          </a:ln>
        </p:spPr>
      </p:sp>
      <p:sp>
        <p:nvSpPr>
          <p:cNvPr id="25" name="decision-chip-label-2">
            <a:extLst>
              <a:ext uri="{FF2B5EF4-FFF2-40B4-BE49-F238E27FC236}">
                <a16:creationId xmlns:a16="http://schemas.microsoft.com/office/drawing/2014/main" id="{58EC21DE-6DAF-47C7-99B1-C54D3CE79E81}"/>
              </a:ext>
            </a:extLst>
          </p:cNvPr>
          <p:cNvSpPr>
            <a:spLocks noGrp="1"/>
          </p:cNvSpPr>
          <p:nvPr/>
        </p:nvSpPr>
        <p:spPr>
          <a:xfrm>
            <a:off x="8277225" y="5076825"/>
            <a:ext cx="7429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88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Channel</a:t>
            </a:r>
          </a:p>
        </p:txBody>
      </p:sp>
      <p:sp>
        <p:nvSpPr>
          <p:cNvPr id="26" name="decision-chip-3">
            <a:extLst>
              <a:ext uri="{FF2B5EF4-FFF2-40B4-BE49-F238E27FC236}">
                <a16:creationId xmlns:a16="http://schemas.microsoft.com/office/drawing/2014/main" id="{E0D06ECA-9EA7-48A1-83F8-6996781938F5}"/>
              </a:ext>
            </a:extLst>
          </p:cNvPr>
          <p:cNvSpPr>
            <a:spLocks noGrp="1"/>
          </p:cNvSpPr>
          <p:nvPr/>
        </p:nvSpPr>
        <p:spPr>
          <a:xfrm>
            <a:off x="9105900" y="4991100"/>
            <a:ext cx="800100" cy="323850"/>
          </a:xfrm>
          <a:prstGeom prst="roundRect">
            <a:avLst>
              <a:gd name="adj" fmla="val 35294"/>
            </a:avLst>
          </a:prstGeom>
          <a:solidFill>
            <a:srgbClr val="FFF8F4"/>
          </a:solidFill>
          <a:ln w="9525">
            <a:solidFill>
              <a:srgbClr val="F0C9BA"/>
            </a:solidFill>
            <a:prstDash val="solid"/>
          </a:ln>
        </p:spPr>
      </p:sp>
      <p:sp>
        <p:nvSpPr>
          <p:cNvPr id="27" name="decision-chip-label-3">
            <a:extLst>
              <a:ext uri="{FF2B5EF4-FFF2-40B4-BE49-F238E27FC236}">
                <a16:creationId xmlns:a16="http://schemas.microsoft.com/office/drawing/2014/main" id="{B295771D-CC97-4F36-8CA7-48100DA04A7E}"/>
              </a:ext>
            </a:extLst>
          </p:cNvPr>
          <p:cNvSpPr>
            <a:spLocks noGrp="1"/>
          </p:cNvSpPr>
          <p:nvPr/>
        </p:nvSpPr>
        <p:spPr>
          <a:xfrm>
            <a:off x="9134475" y="5076825"/>
            <a:ext cx="7429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88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Audience</a:t>
            </a:r>
          </a:p>
        </p:txBody>
      </p:sp>
      <p:sp>
        <p:nvSpPr>
          <p:cNvPr id="28" name="decision-chip-4">
            <a:extLst>
              <a:ext uri="{FF2B5EF4-FFF2-40B4-BE49-F238E27FC236}">
                <a16:creationId xmlns:a16="http://schemas.microsoft.com/office/drawing/2014/main" id="{A4D556AE-CE12-4F33-A38E-0792651BB213}"/>
              </a:ext>
            </a:extLst>
          </p:cNvPr>
          <p:cNvSpPr>
            <a:spLocks noGrp="1"/>
          </p:cNvSpPr>
          <p:nvPr/>
        </p:nvSpPr>
        <p:spPr>
          <a:xfrm>
            <a:off x="9963150" y="4991100"/>
            <a:ext cx="800100" cy="323850"/>
          </a:xfrm>
          <a:prstGeom prst="roundRect">
            <a:avLst>
              <a:gd name="adj" fmla="val 35294"/>
            </a:avLst>
          </a:prstGeom>
          <a:solidFill>
            <a:srgbClr val="FFF8F4"/>
          </a:solidFill>
          <a:ln w="9525">
            <a:solidFill>
              <a:srgbClr val="F0C9BA"/>
            </a:solidFill>
            <a:prstDash val="solid"/>
          </a:ln>
        </p:spPr>
      </p:sp>
      <p:sp>
        <p:nvSpPr>
          <p:cNvPr id="29" name="decision-chip-label-4">
            <a:extLst>
              <a:ext uri="{FF2B5EF4-FFF2-40B4-BE49-F238E27FC236}">
                <a16:creationId xmlns:a16="http://schemas.microsoft.com/office/drawing/2014/main" id="{F4C1DA01-84D2-41C7-97F2-1621EA87776A}"/>
              </a:ext>
            </a:extLst>
          </p:cNvPr>
          <p:cNvSpPr>
            <a:spLocks noGrp="1"/>
          </p:cNvSpPr>
          <p:nvPr/>
        </p:nvSpPr>
        <p:spPr>
          <a:xfrm>
            <a:off x="9991725" y="5076825"/>
            <a:ext cx="7429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88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30" name="footer-left">
            <a:extLst>
              <a:ext uri="{FF2B5EF4-FFF2-40B4-BE49-F238E27FC236}">
                <a16:creationId xmlns:a16="http://schemas.microsoft.com/office/drawing/2014/main" id="{C4D57D30-7E57-4539-AF52-3EBB3F28EC78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Johanna Fan · Marketing / GTM / Customer Signal Analytics</a:t>
            </a:r>
          </a:p>
        </p:txBody>
      </p:sp>
      <p:sp>
        <p:nvSpPr>
          <p:cNvPr id="31" name="footer-right">
            <a:extLst>
              <a:ext uri="{FF2B5EF4-FFF2-40B4-BE49-F238E27FC236}">
                <a16:creationId xmlns:a16="http://schemas.microsoft.com/office/drawing/2014/main" id="{61E58EFE-6553-4F7B-9CB8-A5CC9E557BE1}"/>
              </a:ext>
            </a:extLst>
          </p:cNvPr>
          <p:cNvSpPr>
            <a:spLocks noGrp="1"/>
          </p:cNvSpPr>
          <p:nvPr/>
        </p:nvSpPr>
        <p:spPr>
          <a:xfrm>
            <a:off x="7905750" y="6343650"/>
            <a:ext cx="3676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Homepage · Marketing Fit</a:t>
            </a:r>
          </a:p>
        </p:txBody>
      </p:sp>
    </p:spTree>
    <p:extLst>
      <p:ext uri="{BB962C8B-B14F-4D97-AF65-F5344CB8AC3E}">
        <p14:creationId xmlns:p14="http://schemas.microsoft.com/office/powerpoint/2010/main" val="1823217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kicker">
            <a:extLst>
              <a:ext uri="{FF2B5EF4-FFF2-40B4-BE49-F238E27FC236}">
                <a16:creationId xmlns:a16="http://schemas.microsoft.com/office/drawing/2014/main" id="{EB89E5A0-69F6-4E3A-8E65-CB7EEB6963D7}"/>
              </a:ext>
            </a:extLst>
          </p:cNvPr>
          <p:cNvSpPr>
            <a:spLocks noGrp="1"/>
          </p:cNvSpPr>
          <p:nvPr/>
        </p:nvSpPr>
        <p:spPr>
          <a:xfrm>
            <a:off x="609600" y="68580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CONVERSATION</a:t>
            </a:r>
          </a:p>
        </p:txBody>
      </p:sp>
      <p:sp>
        <p:nvSpPr>
          <p:cNvPr id="2" name="conversation-title">
            <a:extLst>
              <a:ext uri="{FF2B5EF4-FFF2-40B4-BE49-F238E27FC236}">
                <a16:creationId xmlns:a16="http://schemas.microsoft.com/office/drawing/2014/main" id="{F99D8F19-5997-422A-A538-77BEC862713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5143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450" b="1">
                <a:solidFill>
                  <a:srgbClr val="12110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2110F"/>
                </a:solidFill>
                <a:latin typeface="Aptos"/>
                <a:ea typeface="Aptos"/>
                <a:cs typeface="Aptos"/>
              </a:rPr>
              <a:t>Where this work could fit</a:t>
            </a:r>
          </a:p>
        </p:txBody>
      </p:sp>
      <p:sp>
        <p:nvSpPr>
          <p:cNvPr id="3" name="conversation-copy">
            <a:extLst>
              <a:ext uri="{FF2B5EF4-FFF2-40B4-BE49-F238E27FC236}">
                <a16:creationId xmlns:a16="http://schemas.microsoft.com/office/drawing/2014/main" id="{1B27EB59-C39F-482A-A75D-2237649EAE78}"/>
              </a:ext>
            </a:extLst>
          </p:cNvPr>
          <p:cNvSpPr>
            <a:spLocks noGrp="1"/>
          </p:cNvSpPr>
          <p:nvPr/>
        </p:nvSpPr>
        <p:spPr>
          <a:xfrm>
            <a:off x="609600" y="2266950"/>
            <a:ext cx="519112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4A423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4235"/>
                </a:solidFill>
                <a:latin typeface="Aptos"/>
                <a:ea typeface="Aptos"/>
                <a:cs typeface="Aptos"/>
              </a:rPr>
              <a:t>If this way of working feels relevant to your team, I would value your read on where it fits best: marketing analytics, GTM operations, customer signal work, reporting handoff, or another part of the workflow.</a:t>
            </a:r>
          </a:p>
        </p:txBody>
      </p:sp>
      <p:sp>
        <p:nvSpPr>
          <p:cNvPr id="4" name="conversation-small">
            <a:extLst>
              <a:ext uri="{FF2B5EF4-FFF2-40B4-BE49-F238E27FC236}">
                <a16:creationId xmlns:a16="http://schemas.microsoft.com/office/drawing/2014/main" id="{C73FAFFD-536C-4C92-9CF0-E5A93D1A161B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A small reply is enough.</a:t>
            </a:r>
          </a:p>
        </p:txBody>
      </p:sp>
      <p:sp>
        <p:nvSpPr>
          <p:cNvPr id="5" name="feedback-card">
            <a:extLst>
              <a:ext uri="{FF2B5EF4-FFF2-40B4-BE49-F238E27FC236}">
                <a16:creationId xmlns:a16="http://schemas.microsoft.com/office/drawing/2014/main" id="{1A70A1C6-76B9-4F0C-85D6-921150445AB0}"/>
              </a:ext>
            </a:extLst>
          </p:cNvPr>
          <p:cNvSpPr>
            <a:spLocks noGrp="1"/>
          </p:cNvSpPr>
          <p:nvPr/>
        </p:nvSpPr>
        <p:spPr>
          <a:xfrm>
            <a:off x="6762750" y="876300"/>
            <a:ext cx="4362450" cy="4533900"/>
          </a:xfrm>
          <a:prstGeom prst="roundRect">
            <a:avLst>
              <a:gd name="adj" fmla="val 1747"/>
            </a:avLst>
          </a:prstGeom>
          <a:solidFill>
            <a:srgbClr val="FFFFFF"/>
          </a:solidFill>
          <a:ln w="9525">
            <a:solidFill>
              <a:srgbClr val="DED6CB"/>
            </a:solidFill>
            <a:prstDash val="solid"/>
          </a:ln>
        </p:spPr>
      </p:sp>
      <p:sp>
        <p:nvSpPr>
          <p:cNvPr id="6" name="feedback-title">
            <a:extLst>
              <a:ext uri="{FF2B5EF4-FFF2-40B4-BE49-F238E27FC236}">
                <a16:creationId xmlns:a16="http://schemas.microsoft.com/office/drawing/2014/main" id="{EE3B6227-4EC2-4B22-A0C3-8D3A1503BF81}"/>
              </a:ext>
            </a:extLst>
          </p:cNvPr>
          <p:cNvSpPr>
            <a:spLocks noGrp="1"/>
          </p:cNvSpPr>
          <p:nvPr/>
        </p:nvSpPr>
        <p:spPr>
          <a:xfrm>
            <a:off x="7086600" y="12001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12110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2110F"/>
                </a:solidFill>
                <a:latin typeface="Aptos"/>
                <a:ea typeface="Aptos"/>
                <a:cs typeface="Aptos"/>
              </a:rPr>
              <a:t>Send a quick read</a:t>
            </a:r>
          </a:p>
        </p:txBody>
      </p:sp>
      <p:sp>
        <p:nvSpPr>
          <p:cNvPr id="7" name="feedback-option-1">
            <a:extLst>
              <a:ext uri="{FF2B5EF4-FFF2-40B4-BE49-F238E27FC236}">
                <a16:creationId xmlns:a16="http://schemas.microsoft.com/office/drawing/2014/main" id="{34D278A4-93EF-4F2E-A664-65D997E50574}"/>
              </a:ext>
            </a:extLst>
          </p:cNvPr>
          <p:cNvSpPr>
            <a:spLocks noGrp="1"/>
          </p:cNvSpPr>
          <p:nvPr/>
        </p:nvSpPr>
        <p:spPr>
          <a:xfrm>
            <a:off x="7086600" y="1733550"/>
            <a:ext cx="1104900" cy="419100"/>
          </a:xfrm>
          <a:prstGeom prst="roundRect">
            <a:avLst>
              <a:gd name="adj" fmla="val 18182"/>
            </a:avLst>
          </a:prstGeom>
          <a:solidFill>
            <a:srgbClr val="FFF8F4"/>
          </a:solidFill>
          <a:ln w="9525">
            <a:solidFill>
              <a:srgbClr val="EFCBBB"/>
            </a:solidFill>
            <a:prstDash val="solid"/>
          </a:ln>
        </p:spPr>
      </p:sp>
      <p:sp>
        <p:nvSpPr>
          <p:cNvPr id="8" name="feedback-option-label-1">
            <a:extLst>
              <a:ext uri="{FF2B5EF4-FFF2-40B4-BE49-F238E27FC236}">
                <a16:creationId xmlns:a16="http://schemas.microsoft.com/office/drawing/2014/main" id="{4FEF88E4-8CF1-493E-858C-B7E95122A2AA}"/>
              </a:ext>
            </a:extLst>
          </p:cNvPr>
          <p:cNvSpPr>
            <a:spLocks noGrp="1"/>
          </p:cNvSpPr>
          <p:nvPr/>
        </p:nvSpPr>
        <p:spPr>
          <a:xfrm>
            <a:off x="7162800" y="1866900"/>
            <a:ext cx="95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Most useful</a:t>
            </a:r>
          </a:p>
        </p:txBody>
      </p:sp>
      <p:sp>
        <p:nvSpPr>
          <p:cNvPr id="9" name="feedback-option-2">
            <a:extLst>
              <a:ext uri="{FF2B5EF4-FFF2-40B4-BE49-F238E27FC236}">
                <a16:creationId xmlns:a16="http://schemas.microsoft.com/office/drawing/2014/main" id="{11B52342-FE82-441E-8FE7-5C3CF8060673}"/>
              </a:ext>
            </a:extLst>
          </p:cNvPr>
          <p:cNvSpPr>
            <a:spLocks noGrp="1"/>
          </p:cNvSpPr>
          <p:nvPr/>
        </p:nvSpPr>
        <p:spPr>
          <a:xfrm>
            <a:off x="8324850" y="1733550"/>
            <a:ext cx="1104900" cy="419100"/>
          </a:xfrm>
          <a:prstGeom prst="roundRect">
            <a:avLst>
              <a:gd name="adj" fmla="val 18182"/>
            </a:avLst>
          </a:prstGeom>
          <a:solidFill>
            <a:srgbClr val="FAF6F0"/>
          </a:solidFill>
          <a:ln w="9525">
            <a:solidFill>
              <a:srgbClr val="EFCBBB"/>
            </a:solidFill>
            <a:prstDash val="solid"/>
          </a:ln>
        </p:spPr>
      </p:sp>
      <p:sp>
        <p:nvSpPr>
          <p:cNvPr id="10" name="feedback-option-label-2">
            <a:extLst>
              <a:ext uri="{FF2B5EF4-FFF2-40B4-BE49-F238E27FC236}">
                <a16:creationId xmlns:a16="http://schemas.microsoft.com/office/drawing/2014/main" id="{1DE37240-5AC1-41FA-92B2-1214443B51E6}"/>
              </a:ext>
            </a:extLst>
          </p:cNvPr>
          <p:cNvSpPr>
            <a:spLocks noGrp="1"/>
          </p:cNvSpPr>
          <p:nvPr/>
        </p:nvSpPr>
        <p:spPr>
          <a:xfrm>
            <a:off x="8401050" y="1866900"/>
            <a:ext cx="95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Least relevant</a:t>
            </a:r>
          </a:p>
        </p:txBody>
      </p:sp>
      <p:sp>
        <p:nvSpPr>
          <p:cNvPr id="11" name="feedback-option-3">
            <a:extLst>
              <a:ext uri="{FF2B5EF4-FFF2-40B4-BE49-F238E27FC236}">
                <a16:creationId xmlns:a16="http://schemas.microsoft.com/office/drawing/2014/main" id="{634D9C9A-2896-42FE-B1C0-0FF6FAD9A48A}"/>
              </a:ext>
            </a:extLst>
          </p:cNvPr>
          <p:cNvSpPr>
            <a:spLocks noGrp="1"/>
          </p:cNvSpPr>
          <p:nvPr/>
        </p:nvSpPr>
        <p:spPr>
          <a:xfrm>
            <a:off x="9563100" y="1733550"/>
            <a:ext cx="1104900" cy="419100"/>
          </a:xfrm>
          <a:prstGeom prst="roundRect">
            <a:avLst>
              <a:gd name="adj" fmla="val 18182"/>
            </a:avLst>
          </a:prstGeom>
          <a:solidFill>
            <a:srgbClr val="FAF6F0"/>
          </a:solidFill>
          <a:ln w="9525">
            <a:solidFill>
              <a:srgbClr val="EFCBBB"/>
            </a:solidFill>
            <a:prstDash val="solid"/>
          </a:ln>
        </p:spPr>
      </p:sp>
      <p:sp>
        <p:nvSpPr>
          <p:cNvPr id="12" name="feedback-option-label-3">
            <a:extLst>
              <a:ext uri="{FF2B5EF4-FFF2-40B4-BE49-F238E27FC236}">
                <a16:creationId xmlns:a16="http://schemas.microsoft.com/office/drawing/2014/main" id="{2F5C48C1-411D-40B3-8B29-0F4D95A9808F}"/>
              </a:ext>
            </a:extLst>
          </p:cNvPr>
          <p:cNvSpPr>
            <a:spLocks noGrp="1"/>
          </p:cNvSpPr>
          <p:nvPr/>
        </p:nvSpPr>
        <p:spPr>
          <a:xfrm>
            <a:off x="9639300" y="1866900"/>
            <a:ext cx="9525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C843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8432E"/>
                </a:solidFill>
                <a:latin typeface="Aptos"/>
                <a:ea typeface="Aptos"/>
                <a:cs typeface="Aptos"/>
              </a:rPr>
              <a:t>Best-fit team</a:t>
            </a:r>
          </a:p>
        </p:txBody>
      </p:sp>
      <p:sp>
        <p:nvSpPr>
          <p:cNvPr id="13" name="feedback-textarea">
            <a:extLst>
              <a:ext uri="{FF2B5EF4-FFF2-40B4-BE49-F238E27FC236}">
                <a16:creationId xmlns:a16="http://schemas.microsoft.com/office/drawing/2014/main" id="{B652634D-18AA-4BAA-9633-3FFFE841C2F6}"/>
              </a:ext>
            </a:extLst>
          </p:cNvPr>
          <p:cNvSpPr>
            <a:spLocks noGrp="1"/>
          </p:cNvSpPr>
          <p:nvPr/>
        </p:nvSpPr>
        <p:spPr>
          <a:xfrm>
            <a:off x="7086600" y="2400300"/>
            <a:ext cx="3676650" cy="1428750"/>
          </a:xfrm>
          <a:prstGeom prst="roundRect">
            <a:avLst>
              <a:gd name="adj" fmla="val 5333"/>
            </a:avLst>
          </a:prstGeom>
          <a:solidFill>
            <a:srgbClr val="FFFDFA">
              <a:alpha val="80000"/>
            </a:srgbClr>
          </a:solidFill>
          <a:ln w="9525">
            <a:solidFill>
              <a:srgbClr val="DED6CB"/>
            </a:solidFill>
            <a:prstDash val="solid"/>
          </a:ln>
        </p:spPr>
      </p:sp>
      <p:sp>
        <p:nvSpPr>
          <p:cNvPr id="14" name="feedback-placeholder">
            <a:extLst>
              <a:ext uri="{FF2B5EF4-FFF2-40B4-BE49-F238E27FC236}">
                <a16:creationId xmlns:a16="http://schemas.microsoft.com/office/drawing/2014/main" id="{31F3F1F9-3F4E-4D2B-AD8E-CFE743271FE9}"/>
              </a:ext>
            </a:extLst>
          </p:cNvPr>
          <p:cNvSpPr>
            <a:spLocks noGrp="1"/>
          </p:cNvSpPr>
          <p:nvPr/>
        </p:nvSpPr>
        <p:spPr>
          <a:xfrm>
            <a:off x="7296150" y="26479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A quick read in one or two sentences...</a:t>
            </a:r>
          </a:p>
        </p:txBody>
      </p:sp>
      <p:sp>
        <p:nvSpPr>
          <p:cNvPr id="15" name="feedback-submit">
            <a:extLst>
              <a:ext uri="{FF2B5EF4-FFF2-40B4-BE49-F238E27FC236}">
                <a16:creationId xmlns:a16="http://schemas.microsoft.com/office/drawing/2014/main" id="{58C5AF3D-39E1-4920-8623-53E4016DCF05}"/>
              </a:ext>
            </a:extLst>
          </p:cNvPr>
          <p:cNvSpPr>
            <a:spLocks noGrp="1"/>
          </p:cNvSpPr>
          <p:nvPr/>
        </p:nvSpPr>
        <p:spPr>
          <a:xfrm>
            <a:off x="7086600" y="4095750"/>
            <a:ext cx="1638300" cy="419100"/>
          </a:xfrm>
          <a:prstGeom prst="roundRect">
            <a:avLst>
              <a:gd name="adj" fmla="val 27273"/>
            </a:avLst>
          </a:prstGeom>
          <a:solidFill>
            <a:srgbClr val="C8432E"/>
          </a:solidFill>
          <a:ln w="9525">
            <a:solidFill>
              <a:srgbClr val="C8432E"/>
            </a:solidFill>
            <a:prstDash val="solid"/>
          </a:ln>
        </p:spPr>
      </p:sp>
      <p:sp>
        <p:nvSpPr>
          <p:cNvPr id="16" name="feedback-submit-label">
            <a:extLst>
              <a:ext uri="{FF2B5EF4-FFF2-40B4-BE49-F238E27FC236}">
                <a16:creationId xmlns:a16="http://schemas.microsoft.com/office/drawing/2014/main" id="{04B82F8B-8609-40A6-BDF8-2882266E2BA6}"/>
              </a:ext>
            </a:extLst>
          </p:cNvPr>
          <p:cNvSpPr>
            <a:spLocks noGrp="1"/>
          </p:cNvSpPr>
          <p:nvPr/>
        </p:nvSpPr>
        <p:spPr>
          <a:xfrm>
            <a:off x="7258050" y="4219575"/>
            <a:ext cx="12954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Send a quick read</a:t>
            </a:r>
          </a:p>
        </p:txBody>
      </p:sp>
      <p:sp>
        <p:nvSpPr>
          <p:cNvPr id="17" name="feedback-helper">
            <a:extLst>
              <a:ext uri="{FF2B5EF4-FFF2-40B4-BE49-F238E27FC236}">
                <a16:creationId xmlns:a16="http://schemas.microsoft.com/office/drawing/2014/main" id="{AB6AA3CA-F4CC-4A31-B6E5-8F4DE973FF36}"/>
              </a:ext>
            </a:extLst>
          </p:cNvPr>
          <p:cNvSpPr>
            <a:spLocks noGrp="1"/>
          </p:cNvSpPr>
          <p:nvPr/>
        </p:nvSpPr>
        <p:spPr>
          <a:xfrm>
            <a:off x="7086600" y="478155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Which part feels most useful, least relevant, or what kind of team would know how to use this work well?</a:t>
            </a:r>
          </a:p>
        </p:txBody>
      </p:sp>
      <p:sp>
        <p:nvSpPr>
          <p:cNvPr id="18" name="footer-left">
            <a:extLst>
              <a:ext uri="{FF2B5EF4-FFF2-40B4-BE49-F238E27FC236}">
                <a16:creationId xmlns:a16="http://schemas.microsoft.com/office/drawing/2014/main" id="{8DD51353-C610-4DFC-AF51-56466990574F}"/>
              </a:ext>
            </a:extLst>
          </p:cNvPr>
          <p:cNvSpPr>
            <a:spLocks noGrp="1"/>
          </p:cNvSpPr>
          <p:nvPr/>
        </p:nvSpPr>
        <p:spPr>
          <a:xfrm>
            <a:off x="609600" y="63436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050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Johanna Fan · Marketing / GTM / Customer Signal Analytics</a:t>
            </a:r>
          </a:p>
        </p:txBody>
      </p:sp>
      <p:sp>
        <p:nvSpPr>
          <p:cNvPr id="19" name="footer-right">
            <a:extLst>
              <a:ext uri="{FF2B5EF4-FFF2-40B4-BE49-F238E27FC236}">
                <a16:creationId xmlns:a16="http://schemas.microsoft.com/office/drawing/2014/main" id="{A04CBA3E-4A8A-4A10-99CB-B5860059F3D6}"/>
              </a:ext>
            </a:extLst>
          </p:cNvPr>
          <p:cNvSpPr>
            <a:spLocks noGrp="1"/>
          </p:cNvSpPr>
          <p:nvPr/>
        </p:nvSpPr>
        <p:spPr>
          <a:xfrm>
            <a:off x="7905750" y="6343650"/>
            <a:ext cx="36766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0">
                <a:solidFill>
                  <a:srgbClr val="746D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46D61"/>
                </a:solidFill>
                <a:latin typeface="Aptos"/>
                <a:ea typeface="Aptos"/>
                <a:cs typeface="Aptos"/>
              </a:rPr>
              <a:t>Homepage · Conversation</a:t>
            </a:r>
          </a:p>
        </p:txBody>
      </p:sp>
    </p:spTree>
    <p:extLst>
      <p:ext uri="{BB962C8B-B14F-4D97-AF65-F5344CB8AC3E}">
        <p14:creationId xmlns:p14="http://schemas.microsoft.com/office/powerpoint/2010/main" val="212947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FBE79454-7E43-47CA-814A-2033ED40A5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20618"/>
          </a:solidFill>
          <a:ln w="0">
            <a:solidFill>
              <a:srgbClr val="020618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6C85B2-7F3D-490C-96EC-CD57D896F424}"/>
              </a:ext>
            </a:extLst>
          </p:cNvPr>
          <p:cNvSpPr>
            <a:spLocks noGrp="1"/>
          </p:cNvSpPr>
          <p:nvPr/>
        </p:nvSpPr>
        <p:spPr>
          <a:xfrm>
            <a:off x="0" y="95250"/>
            <a:ext cx="12192000" cy="38100"/>
          </a:xfrm>
          <a:prstGeom prst="rect">
            <a:avLst/>
          </a:prstGeom>
          <a:solidFill>
            <a:srgbClr val="155DFC"/>
          </a:solidFill>
          <a:ln w="0">
            <a:solidFill>
              <a:srgbClr val="155DFC"/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773638-3EC3-4F05-B40E-8353F1A148BB}"/>
              </a:ext>
            </a:extLst>
          </p:cNvPr>
          <p:cNvSpPr>
            <a:spLocks noGrp="1"/>
          </p:cNvSpPr>
          <p:nvPr/>
        </p:nvSpPr>
        <p:spPr>
          <a:xfrm>
            <a:off x="857250" y="438150"/>
            <a:ext cx="1047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3750" b="1">
                <a:solidFill>
                  <a:srgbClr val="020618"/>
                </a:solidFill>
              </a:defRPr>
            </a:pPr>
            <a:r>
              <a:rPr sz="3750" b="1">
                <a:solidFill>
                  <a:srgbClr val="020618"/>
                </a:solidFill>
              </a:rPr>
              <a:t>System Architecture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D2C57BE-41D4-4580-8215-01440AA542B9}"/>
              </a:ext>
            </a:extLst>
          </p:cNvPr>
          <p:cNvSpPr>
            <a:spLocks noGrp="1"/>
          </p:cNvSpPr>
          <p:nvPr/>
        </p:nvSpPr>
        <p:spPr>
          <a:xfrm>
            <a:off x="2095500" y="1057275"/>
            <a:ext cx="8001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ctr">
              <a:defRPr sz="1725">
                <a:solidFill>
                  <a:srgbClr val="45556C"/>
                </a:solidFill>
              </a:defRPr>
            </a:pPr>
            <a:r>
              <a:rPr sz="1725">
                <a:solidFill>
                  <a:srgbClr val="45556C"/>
                </a:solidFill>
              </a:rPr>
              <a:t>Workflow logic, frontend, database, and hosting</a:t>
            </a:r>
          </a:p>
        </p:txBody>
      </p:sp>
      <p:sp>
        <p:nvSpPr>
          <p:cNvPr id="5" name="Workflow Logic card">
            <a:extLst>
              <a:ext uri="{FF2B5EF4-FFF2-40B4-BE49-F238E27FC236}">
                <a16:creationId xmlns:a16="http://schemas.microsoft.com/office/drawing/2014/main" id="{05C736EC-92E9-49C7-91A1-E35484F57E0B}"/>
              </a:ext>
            </a:extLst>
          </p:cNvPr>
          <p:cNvSpPr>
            <a:spLocks noGrp="1"/>
          </p:cNvSpPr>
          <p:nvPr/>
        </p:nvSpPr>
        <p:spPr>
          <a:xfrm>
            <a:off x="8580589" y="2449124"/>
            <a:ext cx="3193701" cy="278130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3335">
            <a:solidFill>
              <a:srgbClr val="CBFBF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Frontend card">
            <a:extLst>
              <a:ext uri="{FF2B5EF4-FFF2-40B4-BE49-F238E27FC236}">
                <a16:creationId xmlns:a16="http://schemas.microsoft.com/office/drawing/2014/main" id="{C379F2D3-67E6-4ABE-AD0D-F73C4092687C}"/>
              </a:ext>
            </a:extLst>
          </p:cNvPr>
          <p:cNvSpPr>
            <a:spLocks noGrp="1"/>
          </p:cNvSpPr>
          <p:nvPr/>
        </p:nvSpPr>
        <p:spPr>
          <a:xfrm>
            <a:off x="535959" y="2095500"/>
            <a:ext cx="3905069" cy="169545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3335">
            <a:solidFill>
              <a:srgbClr val="DBEAF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1C07D11-8653-4A57-BDC3-7B16AD56E631}"/>
              </a:ext>
            </a:extLst>
          </p:cNvPr>
          <p:cNvSpPr>
            <a:spLocks noGrp="1"/>
          </p:cNvSpPr>
          <p:nvPr/>
        </p:nvSpPr>
        <p:spPr>
          <a:xfrm>
            <a:off x="802660" y="2324100"/>
            <a:ext cx="590550" cy="47625"/>
          </a:xfrm>
          <a:prstGeom prst="rect">
            <a:avLst/>
          </a:prstGeom>
          <a:solidFill>
            <a:srgbClr val="1447E6"/>
          </a:solidFill>
          <a:ln w="0">
            <a:solidFill>
              <a:srgbClr val="1447E6"/>
            </a:solidFill>
            <a:prstDash val="solid"/>
          </a:ln>
        </p:spPr>
      </p:sp>
      <p:sp>
        <p:nvSpPr>
          <p:cNvPr id="23" name="Hosting band">
            <a:extLst>
              <a:ext uri="{FF2B5EF4-FFF2-40B4-BE49-F238E27FC236}">
                <a16:creationId xmlns:a16="http://schemas.microsoft.com/office/drawing/2014/main" id="{532D40BB-9C0B-4478-8D90-BCD41A18F4B8}"/>
              </a:ext>
            </a:extLst>
          </p:cNvPr>
          <p:cNvSpPr>
            <a:spLocks noGrp="1"/>
          </p:cNvSpPr>
          <p:nvPr/>
        </p:nvSpPr>
        <p:spPr>
          <a:xfrm>
            <a:off x="560318" y="4772026"/>
            <a:ext cx="3932104" cy="990600"/>
          </a:xfrm>
          <a:prstGeom prst="roundRect">
            <a:avLst>
              <a:gd name="adj" fmla="val 11538"/>
            </a:avLst>
          </a:prstGeom>
          <a:solidFill>
            <a:srgbClr val="EFF6FF"/>
          </a:solidFill>
          <a:ln w="11430">
            <a:solidFill>
              <a:srgbClr val="8EC5F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TW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C183AB2-832B-475B-A63C-40A61F503C0F}"/>
              </a:ext>
            </a:extLst>
          </p:cNvPr>
          <p:cNvSpPr>
            <a:spLocks noGrp="1"/>
          </p:cNvSpPr>
          <p:nvPr/>
        </p:nvSpPr>
        <p:spPr>
          <a:xfrm>
            <a:off x="2689079" y="4962525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2025" b="1">
                <a:solidFill>
                  <a:srgbClr val="020618"/>
                </a:solidFill>
              </a:defRPr>
            </a:pPr>
            <a:r>
              <a:rPr sz="2025" b="1" dirty="0">
                <a:solidFill>
                  <a:schemeClr val="accent4">
                    <a:lumMod val="50000"/>
                  </a:schemeClr>
                </a:solidFill>
              </a:rPr>
              <a:t>Hosting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424DD75-ED6A-4F63-BCCD-E98AD9FEF48F}"/>
              </a:ext>
            </a:extLst>
          </p:cNvPr>
          <p:cNvSpPr>
            <a:spLocks noGrp="1"/>
          </p:cNvSpPr>
          <p:nvPr/>
        </p:nvSpPr>
        <p:spPr>
          <a:xfrm>
            <a:off x="355454" y="5343524"/>
            <a:ext cx="3162300" cy="41910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1425" b="1">
                <a:solidFill>
                  <a:srgbClr val="1447E6"/>
                </a:solidFill>
              </a:defRPr>
            </a:pPr>
            <a:endParaRPr sz="1600" b="1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4542048-C2B3-4FC0-9202-A8FF331FACDF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Public-safe implementation view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7F39EF2-E573-4604-B005-D01FF86E9A18}"/>
              </a:ext>
            </a:extLst>
          </p:cNvPr>
          <p:cNvSpPr>
            <a:spLocks noGrp="1"/>
          </p:cNvSpPr>
          <p:nvPr/>
        </p:nvSpPr>
        <p:spPr>
          <a:xfrm>
            <a:off x="4876800" y="6115050"/>
            <a:ext cx="657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 algn="r">
              <a:defRPr sz="975">
                <a:solidFill>
                  <a:srgbClr val="62748E"/>
                </a:solidFill>
              </a:defRPr>
            </a:pPr>
            <a:r>
              <a:rPr sz="975">
                <a:solidFill>
                  <a:srgbClr val="62748E"/>
                </a:solidFill>
              </a:rPr>
              <a:t>No private outreach content, raw CRM records, tokens, or internal table details shown.</a:t>
            </a:r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96AFA545-8017-F1FA-C2AB-EB79495E1F3B}"/>
              </a:ext>
            </a:extLst>
          </p:cNvPr>
          <p:cNvSpPr txBox="1"/>
          <p:nvPr/>
        </p:nvSpPr>
        <p:spPr>
          <a:xfrm>
            <a:off x="2003279" y="5189191"/>
            <a:ext cx="24891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/>
              <a:t>Azure App Service</a:t>
            </a:r>
          </a:p>
        </p:txBody>
      </p:sp>
      <p:pic>
        <p:nvPicPr>
          <p:cNvPr id="40" name="圖片 39">
            <a:extLst>
              <a:ext uri="{FF2B5EF4-FFF2-40B4-BE49-F238E27FC236}">
                <a16:creationId xmlns:a16="http://schemas.microsoft.com/office/drawing/2014/main" id="{D2540B24-BB91-4DC7-7F88-E9BBD7A36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654" y="4888565"/>
            <a:ext cx="1143000" cy="851859"/>
          </a:xfrm>
          <a:prstGeom prst="rect">
            <a:avLst/>
          </a:prstGeom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7A752A07-2CE5-2C40-DBBA-E26937271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8597" y="2675951"/>
            <a:ext cx="838924" cy="709304"/>
          </a:xfrm>
          <a:prstGeom prst="rect">
            <a:avLst/>
          </a:prstGeom>
        </p:spPr>
      </p:pic>
      <p:sp>
        <p:nvSpPr>
          <p:cNvPr id="55" name="矩形 54">
            <a:extLst>
              <a:ext uri="{FF2B5EF4-FFF2-40B4-BE49-F238E27FC236}">
                <a16:creationId xmlns:a16="http://schemas.microsoft.com/office/drawing/2014/main" id="{CB5F2BF0-521C-EABA-615F-8A958CE66B93}"/>
              </a:ext>
            </a:extLst>
          </p:cNvPr>
          <p:cNvSpPr>
            <a:spLocks noGrp="1"/>
          </p:cNvSpPr>
          <p:nvPr/>
        </p:nvSpPr>
        <p:spPr>
          <a:xfrm>
            <a:off x="6043054" y="3858363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2025" b="1">
                <a:solidFill>
                  <a:srgbClr val="020618"/>
                </a:solidFill>
              </a:defRPr>
            </a:pPr>
            <a:r>
              <a:rPr lang="en-US" altLang="zh-TW" sz="2025" b="1" dirty="0">
                <a:solidFill>
                  <a:schemeClr val="accent4">
                    <a:lumMod val="50000"/>
                  </a:schemeClr>
                </a:solidFill>
              </a:rPr>
              <a:t>Data</a:t>
            </a:r>
            <a:r>
              <a:rPr lang="zh-TW" altLang="en-US" sz="2025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altLang="zh-TW" sz="2025" b="1" dirty="0">
                <a:solidFill>
                  <a:schemeClr val="accent4">
                    <a:lumMod val="50000"/>
                  </a:schemeClr>
                </a:solidFill>
              </a:rPr>
              <a:t>Base</a:t>
            </a:r>
            <a:endParaRPr sz="2025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56E13326-134B-0475-2DFF-10036C2E0B68}"/>
              </a:ext>
            </a:extLst>
          </p:cNvPr>
          <p:cNvSpPr txBox="1"/>
          <p:nvPr/>
        </p:nvSpPr>
        <p:spPr>
          <a:xfrm>
            <a:off x="5357254" y="4085029"/>
            <a:ext cx="25596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 err="1"/>
              <a:t>Supabase</a:t>
            </a:r>
            <a:r>
              <a:rPr lang="en-US" altLang="zh-TW" sz="2400" b="1" dirty="0"/>
              <a:t> Postgres</a:t>
            </a:r>
          </a:p>
        </p:txBody>
      </p:sp>
      <p:pic>
        <p:nvPicPr>
          <p:cNvPr id="68" name="圖片 67">
            <a:extLst>
              <a:ext uri="{FF2B5EF4-FFF2-40B4-BE49-F238E27FC236}">
                <a16:creationId xmlns:a16="http://schemas.microsoft.com/office/drawing/2014/main" id="{8A137BC9-4ACC-72CA-7AE1-70C4E46BB9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318" y="2600325"/>
            <a:ext cx="1037499" cy="827427"/>
          </a:xfrm>
          <a:prstGeom prst="rect">
            <a:avLst/>
          </a:prstGeom>
        </p:spPr>
      </p:pic>
      <p:sp>
        <p:nvSpPr>
          <p:cNvPr id="72" name="矩形 71">
            <a:extLst>
              <a:ext uri="{FF2B5EF4-FFF2-40B4-BE49-F238E27FC236}">
                <a16:creationId xmlns:a16="http://schemas.microsoft.com/office/drawing/2014/main" id="{6F3DC0EB-F35E-532E-F059-2948FAD9314F}"/>
              </a:ext>
            </a:extLst>
          </p:cNvPr>
          <p:cNvSpPr>
            <a:spLocks noGrp="1"/>
          </p:cNvSpPr>
          <p:nvPr/>
        </p:nvSpPr>
        <p:spPr>
          <a:xfrm>
            <a:off x="2250279" y="26479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2025" b="1">
                <a:solidFill>
                  <a:srgbClr val="020618"/>
                </a:solidFill>
              </a:defRPr>
            </a:pPr>
            <a:r>
              <a:rPr lang="en-US" sz="2025" b="1" dirty="0">
                <a:solidFill>
                  <a:schemeClr val="accent4">
                    <a:lumMod val="50000"/>
                  </a:schemeClr>
                </a:solidFill>
              </a:rPr>
              <a:t>Frontend</a:t>
            </a:r>
            <a:endParaRPr sz="2025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2C26994B-4A79-6530-0AEB-C12E01F965D4}"/>
              </a:ext>
            </a:extLst>
          </p:cNvPr>
          <p:cNvSpPr txBox="1"/>
          <p:nvPr/>
        </p:nvSpPr>
        <p:spPr>
          <a:xfrm>
            <a:off x="1564479" y="2874616"/>
            <a:ext cx="2751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/>
              <a:t>ASP.NET Core </a:t>
            </a:r>
            <a:r>
              <a:rPr lang="en-US" altLang="zh-TW" sz="2400" b="1" dirty="0" err="1"/>
              <a:t>Blazor</a:t>
            </a:r>
            <a:endParaRPr lang="en-US" altLang="zh-TW" sz="2400" b="1" dirty="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7C9B8053-CCA3-FD56-F90B-F492B6BD4C1B}"/>
              </a:ext>
            </a:extLst>
          </p:cNvPr>
          <p:cNvSpPr>
            <a:spLocks noGrp="1"/>
          </p:cNvSpPr>
          <p:nvPr/>
        </p:nvSpPr>
        <p:spPr>
          <a:xfrm>
            <a:off x="9532146" y="375970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/>
          <a:lstStyle/>
          <a:p>
            <a:pPr>
              <a:defRPr sz="2025" b="1">
                <a:solidFill>
                  <a:srgbClr val="020618"/>
                </a:solidFill>
              </a:defRPr>
            </a:pPr>
            <a:r>
              <a:rPr lang="en-US" sz="2025" b="1" dirty="0">
                <a:solidFill>
                  <a:schemeClr val="accent4">
                    <a:lumMod val="50000"/>
                  </a:schemeClr>
                </a:solidFill>
              </a:rPr>
              <a:t>Workflow Logic</a:t>
            </a:r>
            <a:endParaRPr sz="2025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15D3FD8B-5E70-B3C0-D505-B06204A50242}"/>
              </a:ext>
            </a:extLst>
          </p:cNvPr>
          <p:cNvSpPr txBox="1"/>
          <p:nvPr/>
        </p:nvSpPr>
        <p:spPr>
          <a:xfrm>
            <a:off x="8580589" y="4017761"/>
            <a:ext cx="33190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b="1" dirty="0"/>
              <a:t>Claude skills automation</a:t>
            </a:r>
          </a:p>
        </p:txBody>
      </p:sp>
      <p:pic>
        <p:nvPicPr>
          <p:cNvPr id="77" name="圖片 76">
            <a:extLst>
              <a:ext uri="{FF2B5EF4-FFF2-40B4-BE49-F238E27FC236}">
                <a16:creationId xmlns:a16="http://schemas.microsoft.com/office/drawing/2014/main" id="{57F9A43E-C257-F283-59B8-2E913C6D28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2693" y="2746748"/>
            <a:ext cx="983787" cy="91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5959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610</Words>
  <Application>Microsoft Office PowerPoint</Application>
  <DocSecurity>0</DocSecurity>
  <PresentationFormat>寬螢幕</PresentationFormat>
  <Paragraphs>92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9" baseType="lpstr">
      <vt:lpstr>Aptos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xinnnxuan.fan@yahoo.com</cp:lastModifiedBy>
  <cp:revision>1</cp:revision>
  <dcterms:created xsi:type="dcterms:W3CDTF">2026-06-30T15:32:48Z</dcterms:created>
  <dcterms:modified xsi:type="dcterms:W3CDTF">2026-06-30T16:29:09Z</dcterms:modified>
</cp:coreProperties>
</file>